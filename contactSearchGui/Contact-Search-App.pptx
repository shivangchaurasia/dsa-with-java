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3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523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0" i="0">
                <a:solidFill>
                  <a:srgbClr val="F7F7F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0" i="0">
                <a:solidFill>
                  <a:srgbClr val="F7F7F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0" i="0">
                <a:solidFill>
                  <a:srgbClr val="F7F7F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81304" y="2024114"/>
            <a:ext cx="5793740" cy="5029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0" i="0">
                <a:solidFill>
                  <a:srgbClr val="D5D9D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0" i="0">
                <a:solidFill>
                  <a:srgbClr val="F7F7F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2C3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39192" y="7749538"/>
            <a:ext cx="1722627" cy="41147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4630399" cy="38340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2C303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39191" y="7749538"/>
            <a:ext cx="1722627" cy="41147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1304" y="1855977"/>
            <a:ext cx="8168640" cy="7042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0" i="0">
                <a:solidFill>
                  <a:srgbClr val="F7F7F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49173" y="3058667"/>
            <a:ext cx="13132435" cy="32658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-1"/>
            <a:ext cx="5486400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1304" y="2265933"/>
            <a:ext cx="6898005" cy="6685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5600"/>
              </a:lnSpc>
            </a:pPr>
            <a:r>
              <a:rPr spc="195" dirty="0"/>
              <a:t>Contact</a:t>
            </a:r>
            <a:r>
              <a:rPr dirty="0"/>
              <a:t> Search</a:t>
            </a:r>
            <a:r>
              <a:rPr spc="10" dirty="0"/>
              <a:t> </a:t>
            </a:r>
            <a:r>
              <a:rPr spc="180" dirty="0"/>
              <a:t>App</a:t>
            </a:r>
            <a:endParaRPr spc="-20" dirty="0"/>
          </a:p>
        </p:txBody>
      </p:sp>
      <p:sp>
        <p:nvSpPr>
          <p:cNvPr id="4" name="object 4"/>
          <p:cNvSpPr txBox="1"/>
          <p:nvPr/>
        </p:nvSpPr>
        <p:spPr>
          <a:xfrm>
            <a:off x="781304" y="4006517"/>
            <a:ext cx="7190105" cy="2375907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1750" spc="155" dirty="0">
                <a:solidFill>
                  <a:srgbClr val="D5D9D6"/>
                </a:solidFill>
                <a:latin typeface="Tahoma"/>
                <a:cs typeface="Tahoma"/>
              </a:rPr>
              <a:t>A</a:t>
            </a:r>
            <a:r>
              <a:rPr sz="1750" spc="-4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130" dirty="0">
                <a:solidFill>
                  <a:srgbClr val="D5D9D6"/>
                </a:solidFill>
                <a:latin typeface="Tahoma"/>
                <a:cs typeface="Tahoma"/>
              </a:rPr>
              <a:t>Java-</a:t>
            </a:r>
            <a:r>
              <a:rPr sz="1750" spc="100" dirty="0">
                <a:solidFill>
                  <a:srgbClr val="D5D9D6"/>
                </a:solidFill>
                <a:latin typeface="Tahoma"/>
                <a:cs typeface="Tahoma"/>
              </a:rPr>
              <a:t>based</a:t>
            </a:r>
            <a:r>
              <a:rPr sz="1750" spc="-2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85" dirty="0">
                <a:solidFill>
                  <a:srgbClr val="D5D9D6"/>
                </a:solidFill>
                <a:latin typeface="Tahoma"/>
                <a:cs typeface="Tahoma"/>
              </a:rPr>
              <a:t>desktop</a:t>
            </a:r>
            <a:r>
              <a:rPr sz="1750" spc="-4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60" dirty="0">
                <a:solidFill>
                  <a:srgbClr val="D5D9D6"/>
                </a:solidFill>
                <a:latin typeface="Tahoma"/>
                <a:cs typeface="Tahoma"/>
              </a:rPr>
              <a:t>application</a:t>
            </a:r>
            <a:r>
              <a:rPr sz="1750" spc="-1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D5D9D6"/>
                </a:solidFill>
                <a:latin typeface="Tahoma"/>
                <a:cs typeface="Tahoma"/>
              </a:rPr>
              <a:t>for</a:t>
            </a:r>
            <a:r>
              <a:rPr sz="1750" spc="-5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D5D9D6"/>
                </a:solidFill>
                <a:latin typeface="Tahoma"/>
                <a:cs typeface="Tahoma"/>
              </a:rPr>
              <a:t>efficient</a:t>
            </a:r>
            <a:r>
              <a:rPr sz="1750" spc="-1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D5D9D6"/>
                </a:solidFill>
                <a:latin typeface="Tahoma"/>
                <a:cs typeface="Tahoma"/>
              </a:rPr>
              <a:t>contact</a:t>
            </a:r>
            <a:r>
              <a:rPr sz="1750" spc="-4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50" dirty="0">
                <a:solidFill>
                  <a:srgbClr val="D5D9D6"/>
                </a:solidFill>
                <a:latin typeface="Tahoma"/>
                <a:cs typeface="Tahoma"/>
              </a:rPr>
              <a:t>management</a:t>
            </a:r>
            <a:endParaRPr sz="175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1750" dirty="0">
                <a:solidFill>
                  <a:srgbClr val="D5D9D6"/>
                </a:solidFill>
                <a:latin typeface="Tahoma"/>
                <a:cs typeface="Tahoma"/>
              </a:rPr>
              <a:t>with</a:t>
            </a:r>
            <a:r>
              <a:rPr sz="1750" spc="-1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80" dirty="0">
                <a:solidFill>
                  <a:srgbClr val="D5D9D6"/>
                </a:solidFill>
                <a:latin typeface="Tahoma"/>
                <a:cs typeface="Tahoma"/>
              </a:rPr>
              <a:t>prefix-</a:t>
            </a:r>
            <a:r>
              <a:rPr sz="1750" spc="95" dirty="0">
                <a:solidFill>
                  <a:srgbClr val="D5D9D6"/>
                </a:solidFill>
                <a:latin typeface="Tahoma"/>
                <a:cs typeface="Tahoma"/>
              </a:rPr>
              <a:t>based</a:t>
            </a:r>
            <a:r>
              <a:rPr sz="175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90" dirty="0">
                <a:solidFill>
                  <a:srgbClr val="D5D9D6"/>
                </a:solidFill>
                <a:latin typeface="Tahoma"/>
                <a:cs typeface="Tahoma"/>
              </a:rPr>
              <a:t>search</a:t>
            </a:r>
            <a:r>
              <a:rPr sz="1750" spc="45" dirty="0">
                <a:solidFill>
                  <a:srgbClr val="D5D9D6"/>
                </a:solidFill>
                <a:latin typeface="Tahoma"/>
                <a:cs typeface="Tahoma"/>
              </a:rPr>
              <a:t>.</a:t>
            </a:r>
            <a:endParaRPr sz="1750" dirty="0">
              <a:latin typeface="Tahoma"/>
              <a:cs typeface="Tahoma"/>
            </a:endParaRPr>
          </a:p>
          <a:p>
            <a:pPr marL="12700" marR="213995">
              <a:lnSpc>
                <a:spcPct val="136500"/>
              </a:lnSpc>
              <a:spcBef>
                <a:spcPts val="2010"/>
              </a:spcBef>
            </a:pPr>
            <a:r>
              <a:rPr sz="1400" b="1" spc="-70" dirty="0">
                <a:solidFill>
                  <a:srgbClr val="D5D9D6"/>
                </a:solidFill>
                <a:latin typeface="Tahoma"/>
                <a:cs typeface="Tahoma"/>
              </a:rPr>
              <a:t>Submitted</a:t>
            </a:r>
            <a:r>
              <a:rPr sz="1400" b="1" spc="-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400" b="1" spc="-45" dirty="0">
                <a:solidFill>
                  <a:srgbClr val="D5D9D6"/>
                </a:solidFill>
                <a:latin typeface="Tahoma"/>
                <a:cs typeface="Tahoma"/>
              </a:rPr>
              <a:t>by:</a:t>
            </a:r>
            <a:r>
              <a:rPr sz="1400" b="1" spc="1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lang="en-IN" sz="1400" spc="15" dirty="0">
                <a:solidFill>
                  <a:srgbClr val="D5D9D6"/>
                </a:solidFill>
                <a:latin typeface="Tahoma"/>
                <a:cs typeface="Tahoma"/>
              </a:rPr>
              <a:t>Shivang Chaurasia (12316885)</a:t>
            </a:r>
          </a:p>
          <a:p>
            <a:pPr marL="12700" marR="213995">
              <a:lnSpc>
                <a:spcPct val="136500"/>
              </a:lnSpc>
              <a:spcBef>
                <a:spcPts val="2010"/>
              </a:spcBef>
            </a:pPr>
            <a:r>
              <a:rPr sz="1400" b="1" spc="-35" dirty="0">
                <a:solidFill>
                  <a:srgbClr val="D5D9D6"/>
                </a:solidFill>
                <a:latin typeface="Tahoma"/>
                <a:cs typeface="Tahoma"/>
              </a:rPr>
              <a:t>Submitted</a:t>
            </a:r>
            <a:r>
              <a:rPr sz="1400" b="1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400" b="1" spc="-20" dirty="0">
                <a:solidFill>
                  <a:srgbClr val="D5D9D6"/>
                </a:solidFill>
                <a:latin typeface="Tahoma"/>
                <a:cs typeface="Tahoma"/>
              </a:rPr>
              <a:t>To:</a:t>
            </a:r>
            <a:r>
              <a:rPr sz="1400" b="1" spc="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D5D9D6"/>
                </a:solidFill>
                <a:latin typeface="Tahoma"/>
                <a:cs typeface="Tahoma"/>
              </a:rPr>
              <a:t>Dr.</a:t>
            </a:r>
            <a:r>
              <a:rPr sz="1400" spc="1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400" dirty="0" err="1">
                <a:solidFill>
                  <a:srgbClr val="D5D9D6"/>
                </a:solidFill>
                <a:latin typeface="Tahoma"/>
                <a:cs typeface="Tahoma"/>
              </a:rPr>
              <a:t>Preetjot</a:t>
            </a:r>
            <a:r>
              <a:rPr sz="1400" spc="2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400" spc="50" dirty="0">
                <a:solidFill>
                  <a:srgbClr val="D5D9D6"/>
                </a:solidFill>
                <a:latin typeface="Tahoma"/>
                <a:cs typeface="Tahoma"/>
              </a:rPr>
              <a:t>Kaur</a:t>
            </a:r>
            <a:endParaRPr lang="en-US" sz="1400" spc="50" dirty="0">
              <a:solidFill>
                <a:srgbClr val="D5D9D6"/>
              </a:solidFill>
              <a:latin typeface="Tahoma"/>
              <a:cs typeface="Tahoma"/>
            </a:endParaRPr>
          </a:p>
          <a:p>
            <a:pPr marL="12700" marR="213995">
              <a:lnSpc>
                <a:spcPct val="136500"/>
              </a:lnSpc>
              <a:spcBef>
                <a:spcPts val="2010"/>
              </a:spcBef>
            </a:pPr>
            <a:r>
              <a:rPr sz="1400" spc="50" dirty="0">
                <a:solidFill>
                  <a:srgbClr val="D5D9D6"/>
                </a:solidFill>
                <a:latin typeface="Tahoma"/>
                <a:cs typeface="Tahoma"/>
              </a:rPr>
              <a:t>Lovely </a:t>
            </a:r>
            <a:r>
              <a:rPr sz="1400" spc="60" dirty="0">
                <a:solidFill>
                  <a:srgbClr val="D5D9D6"/>
                </a:solidFill>
                <a:latin typeface="Tahoma"/>
                <a:cs typeface="Tahoma"/>
              </a:rPr>
              <a:t>Professional</a:t>
            </a:r>
            <a:r>
              <a:rPr sz="1400" spc="-4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400" spc="45" dirty="0">
                <a:solidFill>
                  <a:srgbClr val="D5D9D6"/>
                </a:solidFill>
                <a:latin typeface="Tahoma"/>
                <a:cs typeface="Tahoma"/>
              </a:rPr>
              <a:t>University</a:t>
            </a:r>
            <a:endParaRPr sz="1400" dirty="0">
              <a:latin typeface="Tahoma"/>
              <a:cs typeface="Tahoma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C7D333B-B6FE-F282-343A-F25F10FC0A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600"/>
            <a:ext cx="8382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-1"/>
            <a:ext cx="5486400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1304" y="2639060"/>
            <a:ext cx="450596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14" dirty="0"/>
              <a:t>Project</a:t>
            </a:r>
            <a:r>
              <a:rPr spc="-30" dirty="0"/>
              <a:t> </a:t>
            </a:r>
            <a:r>
              <a:rPr spc="75" dirty="0"/>
              <a:t>Overview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81304" y="3671747"/>
            <a:ext cx="7522845" cy="1868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8200"/>
              </a:lnSpc>
              <a:spcBef>
                <a:spcPts val="100"/>
              </a:spcBef>
            </a:pPr>
            <a:r>
              <a:rPr sz="1750" spc="155" dirty="0">
                <a:solidFill>
                  <a:srgbClr val="D5D9D6"/>
                </a:solidFill>
                <a:latin typeface="Tahoma"/>
                <a:cs typeface="Tahoma"/>
              </a:rPr>
              <a:t>A</a:t>
            </a:r>
            <a:r>
              <a:rPr sz="1750" spc="-4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125" dirty="0">
                <a:solidFill>
                  <a:srgbClr val="D5D9D6"/>
                </a:solidFill>
                <a:latin typeface="Tahoma"/>
                <a:cs typeface="Tahoma"/>
              </a:rPr>
              <a:t>Java</a:t>
            </a:r>
            <a:r>
              <a:rPr sz="1750" spc="-3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85" dirty="0">
                <a:solidFill>
                  <a:srgbClr val="D5D9D6"/>
                </a:solidFill>
                <a:latin typeface="Tahoma"/>
                <a:cs typeface="Tahoma"/>
              </a:rPr>
              <a:t>Swing</a:t>
            </a:r>
            <a:r>
              <a:rPr sz="1750" spc="-2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80" dirty="0">
                <a:solidFill>
                  <a:srgbClr val="D5D9D6"/>
                </a:solidFill>
                <a:latin typeface="Tahoma"/>
                <a:cs typeface="Tahoma"/>
              </a:rPr>
              <a:t>desktop</a:t>
            </a:r>
            <a:r>
              <a:rPr sz="1750" spc="-2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60" dirty="0">
                <a:solidFill>
                  <a:srgbClr val="D5D9D6"/>
                </a:solidFill>
                <a:latin typeface="Tahoma"/>
                <a:cs typeface="Tahoma"/>
              </a:rPr>
              <a:t>application</a:t>
            </a:r>
            <a:r>
              <a:rPr sz="175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60" dirty="0">
                <a:solidFill>
                  <a:srgbClr val="D5D9D6"/>
                </a:solidFill>
                <a:latin typeface="Tahoma"/>
                <a:cs typeface="Tahoma"/>
              </a:rPr>
              <a:t>enabling</a:t>
            </a:r>
            <a:r>
              <a:rPr sz="1750" spc="-1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90" dirty="0">
                <a:solidFill>
                  <a:srgbClr val="D5D9D6"/>
                </a:solidFill>
                <a:latin typeface="Tahoma"/>
                <a:cs typeface="Tahoma"/>
              </a:rPr>
              <a:t>users</a:t>
            </a:r>
            <a:r>
              <a:rPr sz="1750" spc="-2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D5D9D6"/>
                </a:solidFill>
                <a:latin typeface="Tahoma"/>
                <a:cs typeface="Tahoma"/>
              </a:rPr>
              <a:t>to</a:t>
            </a:r>
            <a:r>
              <a:rPr sz="1750" spc="-4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60" dirty="0">
                <a:solidFill>
                  <a:srgbClr val="D5D9D6"/>
                </a:solidFill>
                <a:latin typeface="Tahoma"/>
                <a:cs typeface="Tahoma"/>
              </a:rPr>
              <a:t>add,</a:t>
            </a:r>
            <a:r>
              <a:rPr sz="1750" spc="-3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40" dirty="0">
                <a:solidFill>
                  <a:srgbClr val="D5D9D6"/>
                </a:solidFill>
                <a:latin typeface="Tahoma"/>
                <a:cs typeface="Tahoma"/>
              </a:rPr>
              <a:t>update, </a:t>
            </a:r>
            <a:r>
              <a:rPr sz="1750" spc="45" dirty="0">
                <a:solidFill>
                  <a:srgbClr val="D5D9D6"/>
                </a:solidFill>
                <a:latin typeface="Tahoma"/>
                <a:cs typeface="Tahoma"/>
              </a:rPr>
              <a:t>delete,</a:t>
            </a:r>
            <a:r>
              <a:rPr sz="1750" spc="-2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D5D9D6"/>
                </a:solidFill>
                <a:latin typeface="Tahoma"/>
                <a:cs typeface="Tahoma"/>
              </a:rPr>
              <a:t>and</a:t>
            </a:r>
            <a:r>
              <a:rPr sz="1750" spc="-3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90" dirty="0">
                <a:solidFill>
                  <a:srgbClr val="D5D9D6"/>
                </a:solidFill>
                <a:latin typeface="Tahoma"/>
                <a:cs typeface="Tahoma"/>
              </a:rPr>
              <a:t>search</a:t>
            </a:r>
            <a:r>
              <a:rPr sz="1750" spc="-2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85" dirty="0">
                <a:solidFill>
                  <a:srgbClr val="D5D9D6"/>
                </a:solidFill>
                <a:latin typeface="Tahoma"/>
                <a:cs typeface="Tahoma"/>
              </a:rPr>
              <a:t>contacts</a:t>
            </a:r>
            <a:r>
              <a:rPr sz="1750" spc="-3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50" dirty="0">
                <a:solidFill>
                  <a:srgbClr val="D5D9D6"/>
                </a:solidFill>
                <a:latin typeface="Tahoma"/>
                <a:cs typeface="Tahoma"/>
              </a:rPr>
              <a:t>efficiently.</a:t>
            </a:r>
            <a:r>
              <a:rPr sz="175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D5D9D6"/>
                </a:solidFill>
                <a:latin typeface="Tahoma"/>
                <a:cs typeface="Tahoma"/>
              </a:rPr>
              <a:t>Features</a:t>
            </a:r>
            <a:r>
              <a:rPr sz="1750" spc="-1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D5D9D6"/>
                </a:solidFill>
                <a:latin typeface="Tahoma"/>
                <a:cs typeface="Tahoma"/>
              </a:rPr>
              <a:t>include</a:t>
            </a:r>
            <a:r>
              <a:rPr sz="1750" spc="-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80" dirty="0">
                <a:solidFill>
                  <a:srgbClr val="D5D9D6"/>
                </a:solidFill>
                <a:latin typeface="Tahoma"/>
                <a:cs typeface="Tahoma"/>
              </a:rPr>
              <a:t>prefix-</a:t>
            </a:r>
            <a:r>
              <a:rPr sz="1750" spc="75" dirty="0">
                <a:solidFill>
                  <a:srgbClr val="D5D9D6"/>
                </a:solidFill>
                <a:latin typeface="Tahoma"/>
                <a:cs typeface="Tahoma"/>
              </a:rPr>
              <a:t>based </a:t>
            </a:r>
            <a:r>
              <a:rPr sz="1750" spc="90" dirty="0">
                <a:solidFill>
                  <a:srgbClr val="D5D9D6"/>
                </a:solidFill>
                <a:latin typeface="Tahoma"/>
                <a:cs typeface="Tahoma"/>
              </a:rPr>
              <a:t>search</a:t>
            </a:r>
            <a:r>
              <a:rPr sz="1750" spc="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D5D9D6"/>
                </a:solidFill>
                <a:latin typeface="Tahoma"/>
                <a:cs typeface="Tahoma"/>
              </a:rPr>
              <a:t>using</a:t>
            </a:r>
            <a:r>
              <a:rPr sz="1750" spc="1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55" dirty="0">
                <a:solidFill>
                  <a:srgbClr val="D5D9D6"/>
                </a:solidFill>
                <a:latin typeface="Tahoma"/>
                <a:cs typeface="Tahoma"/>
              </a:rPr>
              <a:t>Trie</a:t>
            </a:r>
            <a:r>
              <a:rPr sz="175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50" dirty="0">
                <a:solidFill>
                  <a:srgbClr val="D5D9D6"/>
                </a:solidFill>
                <a:latin typeface="Tahoma"/>
                <a:cs typeface="Tahoma"/>
              </a:rPr>
              <a:t>data</a:t>
            </a:r>
            <a:r>
              <a:rPr sz="1750" spc="1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D5D9D6"/>
                </a:solidFill>
                <a:latin typeface="Tahoma"/>
                <a:cs typeface="Tahoma"/>
              </a:rPr>
              <a:t>structure,</a:t>
            </a:r>
            <a:r>
              <a:rPr sz="1750" spc="1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80" dirty="0">
                <a:solidFill>
                  <a:srgbClr val="D5D9D6"/>
                </a:solidFill>
                <a:latin typeface="Tahoma"/>
                <a:cs typeface="Tahoma"/>
              </a:rPr>
              <a:t>reverse</a:t>
            </a:r>
            <a:r>
              <a:rPr sz="1750" spc="1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D5D9D6"/>
                </a:solidFill>
                <a:latin typeface="Tahoma"/>
                <a:cs typeface="Tahoma"/>
              </a:rPr>
              <a:t>lookup</a:t>
            </a:r>
            <a:r>
              <a:rPr sz="175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100" dirty="0">
                <a:solidFill>
                  <a:srgbClr val="D5D9D6"/>
                </a:solidFill>
                <a:latin typeface="Tahoma"/>
                <a:cs typeface="Tahoma"/>
              </a:rPr>
              <a:t>by</a:t>
            </a:r>
            <a:r>
              <a:rPr sz="1750" spc="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75" dirty="0">
                <a:solidFill>
                  <a:srgbClr val="D5D9D6"/>
                </a:solidFill>
                <a:latin typeface="Tahoma"/>
                <a:cs typeface="Tahoma"/>
              </a:rPr>
              <a:t>phone</a:t>
            </a:r>
            <a:r>
              <a:rPr sz="1750" spc="1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50" dirty="0">
                <a:solidFill>
                  <a:srgbClr val="D5D9D6"/>
                </a:solidFill>
                <a:latin typeface="Tahoma"/>
                <a:cs typeface="Tahoma"/>
              </a:rPr>
              <a:t>number,</a:t>
            </a:r>
            <a:r>
              <a:rPr sz="1750" spc="2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45" dirty="0">
                <a:solidFill>
                  <a:srgbClr val="D5D9D6"/>
                </a:solidFill>
                <a:latin typeface="Tahoma"/>
                <a:cs typeface="Tahoma"/>
              </a:rPr>
              <a:t>and </a:t>
            </a:r>
            <a:r>
              <a:rPr sz="1750" spc="60" dirty="0">
                <a:solidFill>
                  <a:srgbClr val="D5D9D6"/>
                </a:solidFill>
                <a:latin typeface="Tahoma"/>
                <a:cs typeface="Tahoma"/>
              </a:rPr>
              <a:t>persistent</a:t>
            </a:r>
            <a:r>
              <a:rPr sz="1750" spc="4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D5D9D6"/>
                </a:solidFill>
                <a:latin typeface="Tahoma"/>
                <a:cs typeface="Tahoma"/>
              </a:rPr>
              <a:t>local</a:t>
            </a:r>
            <a:r>
              <a:rPr sz="1750" spc="2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D5D9D6"/>
                </a:solidFill>
                <a:latin typeface="Tahoma"/>
                <a:cs typeface="Tahoma"/>
              </a:rPr>
              <a:t>storage</a:t>
            </a:r>
            <a:r>
              <a:rPr sz="1750" spc="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D5D9D6"/>
                </a:solidFill>
                <a:latin typeface="Tahoma"/>
                <a:cs typeface="Tahoma"/>
              </a:rPr>
              <a:t>in</a:t>
            </a:r>
            <a:r>
              <a:rPr sz="1750" spc="2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45" dirty="0">
                <a:solidFill>
                  <a:srgbClr val="D5D9D6"/>
                </a:solidFill>
                <a:latin typeface="Tahoma"/>
                <a:cs typeface="Tahoma"/>
              </a:rPr>
              <a:t>contacts.txt.</a:t>
            </a:r>
            <a:r>
              <a:rPr sz="1750" spc="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D5D9D6"/>
                </a:solidFill>
                <a:latin typeface="Tahoma"/>
                <a:cs typeface="Tahoma"/>
              </a:rPr>
              <a:t>Similar</a:t>
            </a:r>
            <a:r>
              <a:rPr sz="1750" spc="3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D5D9D6"/>
                </a:solidFill>
                <a:latin typeface="Tahoma"/>
                <a:cs typeface="Tahoma"/>
              </a:rPr>
              <a:t>to</a:t>
            </a:r>
            <a:r>
              <a:rPr sz="1750" spc="2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60" dirty="0">
                <a:solidFill>
                  <a:srgbClr val="D5D9D6"/>
                </a:solidFill>
                <a:latin typeface="Tahoma"/>
                <a:cs typeface="Tahoma"/>
              </a:rPr>
              <a:t>a</a:t>
            </a:r>
            <a:r>
              <a:rPr sz="1750" spc="2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D5D9D6"/>
                </a:solidFill>
                <a:latin typeface="Tahoma"/>
                <a:cs typeface="Tahoma"/>
              </a:rPr>
              <a:t>mini</a:t>
            </a:r>
            <a:r>
              <a:rPr sz="1750" spc="3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60" dirty="0">
                <a:solidFill>
                  <a:srgbClr val="D5D9D6"/>
                </a:solidFill>
                <a:latin typeface="Tahoma"/>
                <a:cs typeface="Tahoma"/>
              </a:rPr>
              <a:t>Truecaller</a:t>
            </a:r>
            <a:r>
              <a:rPr sz="1750" spc="4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30" dirty="0">
                <a:solidFill>
                  <a:srgbClr val="D5D9D6"/>
                </a:solidFill>
                <a:latin typeface="Tahoma"/>
                <a:cs typeface="Tahoma"/>
              </a:rPr>
              <a:t>or </a:t>
            </a:r>
            <a:r>
              <a:rPr sz="1750" spc="80" dirty="0">
                <a:solidFill>
                  <a:srgbClr val="D5D9D6"/>
                </a:solidFill>
                <a:latin typeface="Tahoma"/>
                <a:cs typeface="Tahoma"/>
              </a:rPr>
              <a:t>phonebook</a:t>
            </a:r>
            <a:r>
              <a:rPr sz="1750" spc="1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90" dirty="0">
                <a:solidFill>
                  <a:srgbClr val="D5D9D6"/>
                </a:solidFill>
                <a:latin typeface="Tahoma"/>
                <a:cs typeface="Tahoma"/>
              </a:rPr>
              <a:t>system</a:t>
            </a:r>
            <a:r>
              <a:rPr sz="1750" spc="1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D5D9D6"/>
                </a:solidFill>
                <a:latin typeface="Tahoma"/>
                <a:cs typeface="Tahoma"/>
              </a:rPr>
              <a:t>with</a:t>
            </a:r>
            <a:r>
              <a:rPr sz="1750" spc="3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75" dirty="0">
                <a:solidFill>
                  <a:srgbClr val="D5D9D6"/>
                </a:solidFill>
                <a:latin typeface="Tahoma"/>
                <a:cs typeface="Tahoma"/>
              </a:rPr>
              <a:t>event-</a:t>
            </a:r>
            <a:r>
              <a:rPr sz="1750" spc="60" dirty="0">
                <a:solidFill>
                  <a:srgbClr val="D5D9D6"/>
                </a:solidFill>
                <a:latin typeface="Tahoma"/>
                <a:cs typeface="Tahoma"/>
              </a:rPr>
              <a:t>driven</a:t>
            </a:r>
            <a:r>
              <a:rPr sz="1750" spc="3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D5D9D6"/>
                </a:solidFill>
                <a:latin typeface="Tahoma"/>
                <a:cs typeface="Tahoma"/>
              </a:rPr>
              <a:t>GUI</a:t>
            </a:r>
            <a:r>
              <a:rPr sz="1750" spc="-10" dirty="0">
                <a:solidFill>
                  <a:srgbClr val="D5D9D6"/>
                </a:solidFill>
                <a:latin typeface="Tahoma"/>
                <a:cs typeface="Tahoma"/>
              </a:rPr>
              <a:t> interaction.</a:t>
            </a:r>
            <a:endParaRPr sz="1750">
              <a:latin typeface="Tahoma"/>
              <a:cs typeface="Tahom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7BBE3B-1DF8-0436-FE2E-F115725204C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600"/>
            <a:ext cx="8382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6DFDB3F-2C1C-74F8-628B-CA303A5CC672}"/>
              </a:ext>
            </a:extLst>
          </p:cNvPr>
          <p:cNvSpPr/>
          <p:nvPr/>
        </p:nvSpPr>
        <p:spPr>
          <a:xfrm>
            <a:off x="12848492" y="7696200"/>
            <a:ext cx="1705708" cy="511898"/>
          </a:xfrm>
          <a:prstGeom prst="rect">
            <a:avLst/>
          </a:prstGeom>
          <a:solidFill>
            <a:srgbClr val="2C30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22763A-6E21-9893-5FDD-DB4C4A69CA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229" y="0"/>
            <a:ext cx="11715941" cy="8229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62C015A-A6BB-976C-925E-648C032D5F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600"/>
            <a:ext cx="8382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331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-1"/>
            <a:ext cx="5486400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1304" y="1762760"/>
            <a:ext cx="491109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70" dirty="0"/>
              <a:t>Core</a:t>
            </a:r>
            <a:r>
              <a:rPr spc="-50" dirty="0"/>
              <a:t> </a:t>
            </a:r>
            <a:r>
              <a:rPr spc="55" dirty="0"/>
              <a:t>Technologies</a:t>
            </a:r>
          </a:p>
        </p:txBody>
      </p:sp>
      <p:sp>
        <p:nvSpPr>
          <p:cNvPr id="4" name="object 4"/>
          <p:cNvSpPr/>
          <p:nvPr/>
        </p:nvSpPr>
        <p:spPr>
          <a:xfrm>
            <a:off x="793788" y="2855976"/>
            <a:ext cx="3665220" cy="2033270"/>
          </a:xfrm>
          <a:custGeom>
            <a:avLst/>
            <a:gdLst/>
            <a:ahLst/>
            <a:cxnLst/>
            <a:rect l="l" t="t" r="r" b="b"/>
            <a:pathLst>
              <a:path w="3665220" h="2033270">
                <a:moveTo>
                  <a:pt x="3630764" y="0"/>
                </a:moveTo>
                <a:lnTo>
                  <a:pt x="34023" y="0"/>
                </a:lnTo>
                <a:lnTo>
                  <a:pt x="20782" y="2674"/>
                </a:lnTo>
                <a:lnTo>
                  <a:pt x="9967" y="9969"/>
                </a:lnTo>
                <a:lnTo>
                  <a:pt x="2674" y="20788"/>
                </a:lnTo>
                <a:lnTo>
                  <a:pt x="0" y="34036"/>
                </a:lnTo>
                <a:lnTo>
                  <a:pt x="0" y="1998726"/>
                </a:lnTo>
                <a:lnTo>
                  <a:pt x="2674" y="2011973"/>
                </a:lnTo>
                <a:lnTo>
                  <a:pt x="9967" y="2022792"/>
                </a:lnTo>
                <a:lnTo>
                  <a:pt x="20782" y="2030087"/>
                </a:lnTo>
                <a:lnTo>
                  <a:pt x="34023" y="2032762"/>
                </a:lnTo>
                <a:lnTo>
                  <a:pt x="3630764" y="2032762"/>
                </a:lnTo>
                <a:lnTo>
                  <a:pt x="3644012" y="2030087"/>
                </a:lnTo>
                <a:lnTo>
                  <a:pt x="3654831" y="2022792"/>
                </a:lnTo>
                <a:lnTo>
                  <a:pt x="3662125" y="2011973"/>
                </a:lnTo>
                <a:lnTo>
                  <a:pt x="3664800" y="1998726"/>
                </a:lnTo>
                <a:lnTo>
                  <a:pt x="3664800" y="34036"/>
                </a:lnTo>
                <a:lnTo>
                  <a:pt x="3662125" y="20788"/>
                </a:lnTo>
                <a:lnTo>
                  <a:pt x="3654831" y="9969"/>
                </a:lnTo>
                <a:lnTo>
                  <a:pt x="3644012" y="2674"/>
                </a:lnTo>
                <a:lnTo>
                  <a:pt x="3630764" y="0"/>
                </a:lnTo>
                <a:close/>
              </a:path>
            </a:pathLst>
          </a:custGeom>
          <a:solidFill>
            <a:srgbClr val="4B50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08075" y="3058413"/>
            <a:ext cx="2483485" cy="1586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D5D9D6"/>
                </a:solidFill>
                <a:latin typeface="Arial MT"/>
                <a:cs typeface="Arial MT"/>
              </a:rPr>
              <a:t>Java</a:t>
            </a:r>
            <a:r>
              <a:rPr sz="2200" spc="-50" dirty="0">
                <a:solidFill>
                  <a:srgbClr val="D5D9D6"/>
                </a:solidFill>
                <a:latin typeface="Arial MT"/>
                <a:cs typeface="Arial MT"/>
              </a:rPr>
              <a:t> </a:t>
            </a:r>
            <a:r>
              <a:rPr sz="2200" spc="45" dirty="0">
                <a:solidFill>
                  <a:srgbClr val="D5D9D6"/>
                </a:solidFill>
                <a:latin typeface="Arial MT"/>
                <a:cs typeface="Arial MT"/>
              </a:rPr>
              <a:t>Development</a:t>
            </a:r>
            <a:endParaRPr sz="2200">
              <a:latin typeface="Arial MT"/>
              <a:cs typeface="Arial MT"/>
            </a:endParaRPr>
          </a:p>
          <a:p>
            <a:pPr marL="12700" marR="5080" algn="just">
              <a:lnSpc>
                <a:spcPct val="138300"/>
              </a:lnSpc>
              <a:spcBef>
                <a:spcPts val="940"/>
              </a:spcBef>
            </a:pPr>
            <a:r>
              <a:rPr sz="1750" spc="155" dirty="0">
                <a:solidFill>
                  <a:srgbClr val="D5D9D6"/>
                </a:solidFill>
                <a:latin typeface="Tahoma"/>
                <a:cs typeface="Tahoma"/>
              </a:rPr>
              <a:t>JDK</a:t>
            </a:r>
            <a:r>
              <a:rPr sz="1750" spc="-1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120" dirty="0">
                <a:solidFill>
                  <a:srgbClr val="D5D9D6"/>
                </a:solidFill>
                <a:latin typeface="Tahoma"/>
                <a:cs typeface="Tahoma"/>
              </a:rPr>
              <a:t>23</a:t>
            </a:r>
            <a:r>
              <a:rPr sz="1750" spc="-3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D5D9D6"/>
                </a:solidFill>
                <a:latin typeface="Tahoma"/>
                <a:cs typeface="Tahoma"/>
              </a:rPr>
              <a:t>with</a:t>
            </a:r>
            <a:r>
              <a:rPr sz="1750" spc="-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85" dirty="0">
                <a:solidFill>
                  <a:srgbClr val="D5D9D6"/>
                </a:solidFill>
                <a:latin typeface="Tahoma"/>
                <a:cs typeface="Tahoma"/>
              </a:rPr>
              <a:t>Swing</a:t>
            </a:r>
            <a:r>
              <a:rPr sz="1750" spc="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-25" dirty="0">
                <a:solidFill>
                  <a:srgbClr val="D5D9D6"/>
                </a:solidFill>
                <a:latin typeface="Tahoma"/>
                <a:cs typeface="Tahoma"/>
              </a:rPr>
              <a:t>GUI </a:t>
            </a:r>
            <a:r>
              <a:rPr sz="1750" spc="70" dirty="0">
                <a:solidFill>
                  <a:srgbClr val="D5D9D6"/>
                </a:solidFill>
                <a:latin typeface="Tahoma"/>
                <a:cs typeface="Tahoma"/>
              </a:rPr>
              <a:t>Framework</a:t>
            </a:r>
            <a:r>
              <a:rPr sz="1750" spc="-2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D5D9D6"/>
                </a:solidFill>
                <a:latin typeface="Tahoma"/>
                <a:cs typeface="Tahoma"/>
              </a:rPr>
              <a:t>for</a:t>
            </a:r>
            <a:r>
              <a:rPr sz="1750" spc="-4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D5D9D6"/>
                </a:solidFill>
                <a:latin typeface="Tahoma"/>
                <a:cs typeface="Tahoma"/>
              </a:rPr>
              <a:t>desktop </a:t>
            </a:r>
            <a:r>
              <a:rPr sz="1750" spc="45" dirty="0">
                <a:solidFill>
                  <a:srgbClr val="D5D9D6"/>
                </a:solidFill>
                <a:latin typeface="Tahoma"/>
                <a:cs typeface="Tahoma"/>
              </a:rPr>
              <a:t>interface.</a:t>
            </a:r>
            <a:endParaRPr sz="175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685410" y="2855976"/>
            <a:ext cx="3665220" cy="2033270"/>
          </a:xfrm>
          <a:custGeom>
            <a:avLst/>
            <a:gdLst/>
            <a:ahLst/>
            <a:cxnLst/>
            <a:rect l="l" t="t" r="r" b="b"/>
            <a:pathLst>
              <a:path w="3665220" h="2033270">
                <a:moveTo>
                  <a:pt x="3630803" y="0"/>
                </a:moveTo>
                <a:lnTo>
                  <a:pt x="33909" y="0"/>
                </a:lnTo>
                <a:lnTo>
                  <a:pt x="20681" y="2674"/>
                </a:lnTo>
                <a:lnTo>
                  <a:pt x="9906" y="9969"/>
                </a:lnTo>
                <a:lnTo>
                  <a:pt x="2655" y="20788"/>
                </a:lnTo>
                <a:lnTo>
                  <a:pt x="0" y="34036"/>
                </a:lnTo>
                <a:lnTo>
                  <a:pt x="0" y="1998726"/>
                </a:lnTo>
                <a:lnTo>
                  <a:pt x="2655" y="2011973"/>
                </a:lnTo>
                <a:lnTo>
                  <a:pt x="9906" y="2022792"/>
                </a:lnTo>
                <a:lnTo>
                  <a:pt x="20681" y="2030087"/>
                </a:lnTo>
                <a:lnTo>
                  <a:pt x="33909" y="2032762"/>
                </a:lnTo>
                <a:lnTo>
                  <a:pt x="3630803" y="2032762"/>
                </a:lnTo>
                <a:lnTo>
                  <a:pt x="3644050" y="2030087"/>
                </a:lnTo>
                <a:lnTo>
                  <a:pt x="3654869" y="2022792"/>
                </a:lnTo>
                <a:lnTo>
                  <a:pt x="3662164" y="2011973"/>
                </a:lnTo>
                <a:lnTo>
                  <a:pt x="3664839" y="1998726"/>
                </a:lnTo>
                <a:lnTo>
                  <a:pt x="3664839" y="34036"/>
                </a:lnTo>
                <a:lnTo>
                  <a:pt x="3662164" y="20788"/>
                </a:lnTo>
                <a:lnTo>
                  <a:pt x="3654869" y="9969"/>
                </a:lnTo>
                <a:lnTo>
                  <a:pt x="3644050" y="2674"/>
                </a:lnTo>
                <a:lnTo>
                  <a:pt x="3630803" y="0"/>
                </a:lnTo>
                <a:close/>
              </a:path>
            </a:pathLst>
          </a:custGeom>
          <a:solidFill>
            <a:srgbClr val="4B50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900040" y="3058413"/>
            <a:ext cx="3190240" cy="1217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D5D9D6"/>
                </a:solidFill>
                <a:latin typeface="Arial MT"/>
                <a:cs typeface="Arial MT"/>
              </a:rPr>
              <a:t>Data</a:t>
            </a:r>
            <a:r>
              <a:rPr sz="2200" spc="80" dirty="0">
                <a:solidFill>
                  <a:srgbClr val="D5D9D6"/>
                </a:solidFill>
                <a:latin typeface="Arial MT"/>
                <a:cs typeface="Arial MT"/>
              </a:rPr>
              <a:t> </a:t>
            </a:r>
            <a:r>
              <a:rPr sz="2200" spc="55" dirty="0">
                <a:solidFill>
                  <a:srgbClr val="D5D9D6"/>
                </a:solidFill>
                <a:latin typeface="Arial MT"/>
                <a:cs typeface="Arial MT"/>
              </a:rPr>
              <a:t>Structures</a:t>
            </a:r>
            <a:endParaRPr sz="2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sz="1750" dirty="0">
                <a:solidFill>
                  <a:srgbClr val="D5D9D6"/>
                </a:solidFill>
                <a:latin typeface="Tahoma"/>
                <a:cs typeface="Tahoma"/>
              </a:rPr>
              <a:t>Trie,</a:t>
            </a:r>
            <a:r>
              <a:rPr sz="1750" spc="3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85" dirty="0">
                <a:solidFill>
                  <a:srgbClr val="D5D9D6"/>
                </a:solidFill>
                <a:latin typeface="Tahoma"/>
                <a:cs typeface="Tahoma"/>
              </a:rPr>
              <a:t>HashMap,</a:t>
            </a:r>
            <a:r>
              <a:rPr sz="1750" spc="3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D5D9D6"/>
                </a:solidFill>
                <a:latin typeface="Tahoma"/>
                <a:cs typeface="Tahoma"/>
              </a:rPr>
              <a:t>ArrayList</a:t>
            </a:r>
            <a:r>
              <a:rPr sz="1750" spc="3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40" dirty="0">
                <a:solidFill>
                  <a:srgbClr val="D5D9D6"/>
                </a:solidFill>
                <a:latin typeface="Tahoma"/>
                <a:cs typeface="Tahoma"/>
              </a:rPr>
              <a:t>for</a:t>
            </a:r>
            <a:endParaRPr sz="1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1750" spc="60" dirty="0">
                <a:solidFill>
                  <a:srgbClr val="D5D9D6"/>
                </a:solidFill>
                <a:latin typeface="Tahoma"/>
                <a:cs typeface="Tahoma"/>
              </a:rPr>
              <a:t>efficient</a:t>
            </a:r>
            <a:r>
              <a:rPr sz="1750" spc="-2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D5D9D6"/>
                </a:solidFill>
                <a:latin typeface="Tahoma"/>
                <a:cs typeface="Tahoma"/>
              </a:rPr>
              <a:t>storage</a:t>
            </a:r>
            <a:r>
              <a:rPr sz="1750" spc="-4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D5D9D6"/>
                </a:solidFill>
                <a:latin typeface="Tahoma"/>
                <a:cs typeface="Tahoma"/>
              </a:rPr>
              <a:t>and</a:t>
            </a:r>
            <a:r>
              <a:rPr sz="1750" spc="-3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-10" dirty="0">
                <a:solidFill>
                  <a:srgbClr val="D5D9D6"/>
                </a:solidFill>
                <a:latin typeface="Tahoma"/>
                <a:cs typeface="Tahoma"/>
              </a:rPr>
              <a:t>retrieval.</a:t>
            </a:r>
            <a:endParaRPr sz="175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93788" y="5115559"/>
            <a:ext cx="7556500" cy="1307465"/>
          </a:xfrm>
          <a:custGeom>
            <a:avLst/>
            <a:gdLst/>
            <a:ahLst/>
            <a:cxnLst/>
            <a:rect l="l" t="t" r="r" b="b"/>
            <a:pathLst>
              <a:path w="7556500" h="1307464">
                <a:moveTo>
                  <a:pt x="7522425" y="0"/>
                </a:moveTo>
                <a:lnTo>
                  <a:pt x="34023" y="0"/>
                </a:lnTo>
                <a:lnTo>
                  <a:pt x="20782" y="2674"/>
                </a:lnTo>
                <a:lnTo>
                  <a:pt x="9967" y="9969"/>
                </a:lnTo>
                <a:lnTo>
                  <a:pt x="2674" y="20788"/>
                </a:lnTo>
                <a:lnTo>
                  <a:pt x="0" y="34035"/>
                </a:lnTo>
                <a:lnTo>
                  <a:pt x="0" y="1272920"/>
                </a:lnTo>
                <a:lnTo>
                  <a:pt x="2674" y="1286168"/>
                </a:lnTo>
                <a:lnTo>
                  <a:pt x="9967" y="1296987"/>
                </a:lnTo>
                <a:lnTo>
                  <a:pt x="20782" y="1304282"/>
                </a:lnTo>
                <a:lnTo>
                  <a:pt x="34023" y="1306957"/>
                </a:lnTo>
                <a:lnTo>
                  <a:pt x="7522425" y="1306957"/>
                </a:lnTo>
                <a:lnTo>
                  <a:pt x="7535673" y="1304282"/>
                </a:lnTo>
                <a:lnTo>
                  <a:pt x="7546492" y="1296987"/>
                </a:lnTo>
                <a:lnTo>
                  <a:pt x="7553786" y="1286168"/>
                </a:lnTo>
                <a:lnTo>
                  <a:pt x="7556461" y="1272920"/>
                </a:lnTo>
                <a:lnTo>
                  <a:pt x="7556461" y="34035"/>
                </a:lnTo>
                <a:lnTo>
                  <a:pt x="7553786" y="20788"/>
                </a:lnTo>
                <a:lnTo>
                  <a:pt x="7546492" y="9969"/>
                </a:lnTo>
                <a:lnTo>
                  <a:pt x="7535673" y="2674"/>
                </a:lnTo>
                <a:lnTo>
                  <a:pt x="7522425" y="0"/>
                </a:lnTo>
                <a:close/>
              </a:path>
            </a:pathLst>
          </a:custGeom>
          <a:solidFill>
            <a:srgbClr val="4B50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08075" y="5318505"/>
            <a:ext cx="5567680" cy="8489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D5D9D6"/>
                </a:solidFill>
                <a:latin typeface="Arial MT"/>
                <a:cs typeface="Arial MT"/>
              </a:rPr>
              <a:t>Programming</a:t>
            </a:r>
            <a:r>
              <a:rPr sz="2200" spc="195" dirty="0">
                <a:solidFill>
                  <a:srgbClr val="D5D9D6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D5D9D6"/>
                </a:solidFill>
                <a:latin typeface="Arial MT"/>
                <a:cs typeface="Arial MT"/>
              </a:rPr>
              <a:t>Paradigm</a:t>
            </a:r>
            <a:endParaRPr sz="22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sz="1750" spc="75" dirty="0">
                <a:solidFill>
                  <a:srgbClr val="D5D9D6"/>
                </a:solidFill>
                <a:latin typeface="Tahoma"/>
                <a:cs typeface="Tahoma"/>
              </a:rPr>
              <a:t>Object-</a:t>
            </a:r>
            <a:r>
              <a:rPr sz="1750" spc="50" dirty="0">
                <a:solidFill>
                  <a:srgbClr val="D5D9D6"/>
                </a:solidFill>
                <a:latin typeface="Tahoma"/>
                <a:cs typeface="Tahoma"/>
              </a:rPr>
              <a:t>Oriented</a:t>
            </a:r>
            <a:r>
              <a:rPr sz="1750" spc="2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D5D9D6"/>
                </a:solidFill>
                <a:latin typeface="Tahoma"/>
                <a:cs typeface="Tahoma"/>
              </a:rPr>
              <a:t>Programming</a:t>
            </a:r>
            <a:r>
              <a:rPr sz="1750" spc="-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D5D9D6"/>
                </a:solidFill>
                <a:latin typeface="Tahoma"/>
                <a:cs typeface="Tahoma"/>
              </a:rPr>
              <a:t>with</a:t>
            </a:r>
            <a:r>
              <a:rPr sz="1750" spc="1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125" dirty="0">
                <a:solidFill>
                  <a:srgbClr val="D5D9D6"/>
                </a:solidFill>
                <a:latin typeface="Tahoma"/>
                <a:cs typeface="Tahoma"/>
              </a:rPr>
              <a:t>Java</a:t>
            </a:r>
            <a:r>
              <a:rPr sz="1750" spc="2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60" dirty="0">
                <a:solidFill>
                  <a:srgbClr val="D5D9D6"/>
                </a:solidFill>
                <a:latin typeface="Tahoma"/>
                <a:cs typeface="Tahoma"/>
              </a:rPr>
              <a:t>Collections.</a:t>
            </a:r>
            <a:endParaRPr sz="1750" dirty="0">
              <a:latin typeface="Tahoma"/>
              <a:cs typeface="Tahoma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83C55C7-E344-6DB9-DE1B-ADB1FBBFBE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600"/>
            <a:ext cx="8382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817602" y="7743749"/>
            <a:ext cx="1744345" cy="417830"/>
            <a:chOff x="12817602" y="7743749"/>
            <a:chExt cx="1744345" cy="417830"/>
          </a:xfrm>
        </p:grpSpPr>
        <p:sp>
          <p:nvSpPr>
            <p:cNvPr id="3" name="object 3">
              <a:hlinkClick r:id="rId2"/>
            </p:cNvPr>
            <p:cNvSpPr/>
            <p:nvPr/>
          </p:nvSpPr>
          <p:spPr>
            <a:xfrm>
              <a:off x="12823952" y="7750099"/>
              <a:ext cx="1684020" cy="336550"/>
            </a:xfrm>
            <a:custGeom>
              <a:avLst/>
              <a:gdLst/>
              <a:ahLst/>
              <a:cxnLst/>
              <a:rect l="l" t="t" r="r" b="b"/>
              <a:pathLst>
                <a:path w="1684019" h="336550">
                  <a:moveTo>
                    <a:pt x="1683892" y="0"/>
                  </a:moveTo>
                  <a:lnTo>
                    <a:pt x="0" y="0"/>
                  </a:lnTo>
                  <a:lnTo>
                    <a:pt x="0" y="336346"/>
                  </a:lnTo>
                  <a:lnTo>
                    <a:pt x="1683892" y="336346"/>
                  </a:lnTo>
                  <a:lnTo>
                    <a:pt x="1683892" y="0"/>
                  </a:lnTo>
                  <a:close/>
                </a:path>
              </a:pathLst>
            </a:custGeom>
            <a:solidFill>
              <a:srgbClr val="2C30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hlinkClick r:id="rId2"/>
            </p:cNvPr>
            <p:cNvSpPr/>
            <p:nvPr/>
          </p:nvSpPr>
          <p:spPr>
            <a:xfrm>
              <a:off x="12823952" y="7750099"/>
              <a:ext cx="1684020" cy="336550"/>
            </a:xfrm>
            <a:custGeom>
              <a:avLst/>
              <a:gdLst/>
              <a:ahLst/>
              <a:cxnLst/>
              <a:rect l="l" t="t" r="r" b="b"/>
              <a:pathLst>
                <a:path w="1684019" h="336550">
                  <a:moveTo>
                    <a:pt x="0" y="336346"/>
                  </a:moveTo>
                  <a:lnTo>
                    <a:pt x="1683892" y="336346"/>
                  </a:lnTo>
                  <a:lnTo>
                    <a:pt x="1683892" y="0"/>
                  </a:lnTo>
                  <a:lnTo>
                    <a:pt x="0" y="0"/>
                  </a:lnTo>
                  <a:lnTo>
                    <a:pt x="0" y="336346"/>
                  </a:lnTo>
                  <a:close/>
                </a:path>
              </a:pathLst>
            </a:custGeom>
            <a:ln w="12699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95400" y="606832"/>
            <a:ext cx="4557395" cy="650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100" dirty="0"/>
              <a:t>Five</a:t>
            </a:r>
            <a:r>
              <a:rPr sz="4100" spc="-105" dirty="0"/>
              <a:t> </a:t>
            </a:r>
            <a:r>
              <a:rPr sz="4100" spc="65" dirty="0"/>
              <a:t>Core</a:t>
            </a:r>
            <a:r>
              <a:rPr sz="4100" spc="-85" dirty="0"/>
              <a:t> </a:t>
            </a:r>
            <a:r>
              <a:rPr sz="4100" spc="-10" dirty="0"/>
              <a:t>Features</a:t>
            </a:r>
            <a:endParaRPr sz="4100" dirty="0"/>
          </a:p>
        </p:txBody>
      </p:sp>
      <p:sp>
        <p:nvSpPr>
          <p:cNvPr id="6" name="object 6"/>
          <p:cNvSpPr/>
          <p:nvPr/>
        </p:nvSpPr>
        <p:spPr>
          <a:xfrm>
            <a:off x="735926" y="1655698"/>
            <a:ext cx="473075" cy="473075"/>
          </a:xfrm>
          <a:custGeom>
            <a:avLst/>
            <a:gdLst/>
            <a:ahLst/>
            <a:cxnLst/>
            <a:rect l="l" t="t" r="r" b="b"/>
            <a:pathLst>
              <a:path w="473075" h="473075">
                <a:moveTo>
                  <a:pt x="441490" y="0"/>
                </a:moveTo>
                <a:lnTo>
                  <a:pt x="31534" y="0"/>
                </a:lnTo>
                <a:lnTo>
                  <a:pt x="19261" y="2474"/>
                </a:lnTo>
                <a:lnTo>
                  <a:pt x="9237" y="9223"/>
                </a:lnTo>
                <a:lnTo>
                  <a:pt x="2478" y="19234"/>
                </a:lnTo>
                <a:lnTo>
                  <a:pt x="0" y="31496"/>
                </a:lnTo>
                <a:lnTo>
                  <a:pt x="0" y="441451"/>
                </a:lnTo>
                <a:lnTo>
                  <a:pt x="2478" y="453733"/>
                </a:lnTo>
                <a:lnTo>
                  <a:pt x="9237" y="463788"/>
                </a:lnTo>
                <a:lnTo>
                  <a:pt x="19261" y="470580"/>
                </a:lnTo>
                <a:lnTo>
                  <a:pt x="31534" y="473075"/>
                </a:lnTo>
                <a:lnTo>
                  <a:pt x="441490" y="473075"/>
                </a:lnTo>
                <a:lnTo>
                  <a:pt x="453770" y="470580"/>
                </a:lnTo>
                <a:lnTo>
                  <a:pt x="463797" y="463788"/>
                </a:lnTo>
                <a:lnTo>
                  <a:pt x="470558" y="453733"/>
                </a:lnTo>
                <a:lnTo>
                  <a:pt x="473036" y="441451"/>
                </a:lnTo>
                <a:lnTo>
                  <a:pt x="473036" y="31496"/>
                </a:lnTo>
                <a:lnTo>
                  <a:pt x="470558" y="19234"/>
                </a:lnTo>
                <a:lnTo>
                  <a:pt x="463797" y="9223"/>
                </a:lnTo>
                <a:lnTo>
                  <a:pt x="453770" y="2474"/>
                </a:lnTo>
                <a:lnTo>
                  <a:pt x="441490" y="0"/>
                </a:lnTo>
                <a:close/>
              </a:path>
            </a:pathLst>
          </a:custGeom>
          <a:solidFill>
            <a:srgbClr val="4B50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71441" y="1695399"/>
            <a:ext cx="122555" cy="399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50" spc="-650" dirty="0">
                <a:solidFill>
                  <a:srgbClr val="D5D9D6"/>
                </a:solidFill>
                <a:latin typeface="Arial MT"/>
                <a:cs typeface="Arial MT"/>
              </a:rPr>
              <a:t>1</a:t>
            </a:r>
            <a:endParaRPr sz="2450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06778" y="1703019"/>
            <a:ext cx="8554720" cy="783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50" spc="95" dirty="0">
                <a:solidFill>
                  <a:srgbClr val="D5D9D6"/>
                </a:solidFill>
                <a:latin typeface="Arial MT"/>
                <a:cs typeface="Arial MT"/>
              </a:rPr>
              <a:t>Add</a:t>
            </a:r>
            <a:r>
              <a:rPr sz="2050" spc="-20" dirty="0">
                <a:solidFill>
                  <a:srgbClr val="D5D9D6"/>
                </a:solidFill>
                <a:latin typeface="Arial MT"/>
                <a:cs typeface="Arial MT"/>
              </a:rPr>
              <a:t> </a:t>
            </a:r>
            <a:r>
              <a:rPr sz="2050" spc="70" dirty="0">
                <a:solidFill>
                  <a:srgbClr val="D5D9D6"/>
                </a:solidFill>
                <a:latin typeface="Arial MT"/>
                <a:cs typeface="Arial MT"/>
              </a:rPr>
              <a:t>or</a:t>
            </a:r>
            <a:r>
              <a:rPr sz="2050" spc="-30" dirty="0">
                <a:solidFill>
                  <a:srgbClr val="D5D9D6"/>
                </a:solidFill>
                <a:latin typeface="Arial MT"/>
                <a:cs typeface="Arial MT"/>
              </a:rPr>
              <a:t> </a:t>
            </a:r>
            <a:r>
              <a:rPr sz="2050" spc="60" dirty="0">
                <a:solidFill>
                  <a:srgbClr val="D5D9D6"/>
                </a:solidFill>
                <a:latin typeface="Arial MT"/>
                <a:cs typeface="Arial MT"/>
              </a:rPr>
              <a:t>Update</a:t>
            </a:r>
            <a:r>
              <a:rPr sz="2050" spc="-5" dirty="0">
                <a:solidFill>
                  <a:srgbClr val="D5D9D6"/>
                </a:solidFill>
                <a:latin typeface="Arial MT"/>
                <a:cs typeface="Arial MT"/>
              </a:rPr>
              <a:t> </a:t>
            </a:r>
            <a:r>
              <a:rPr sz="2050" spc="70" dirty="0">
                <a:solidFill>
                  <a:srgbClr val="D5D9D6"/>
                </a:solidFill>
                <a:latin typeface="Arial MT"/>
                <a:cs typeface="Arial MT"/>
              </a:rPr>
              <a:t>Contacts</a:t>
            </a:r>
            <a:endParaRPr sz="205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sz="1650" dirty="0">
                <a:solidFill>
                  <a:srgbClr val="D5D9D6"/>
                </a:solidFill>
                <a:latin typeface="Tahoma"/>
                <a:cs typeface="Tahoma"/>
              </a:rPr>
              <a:t>Input</a:t>
            </a:r>
            <a:r>
              <a:rPr sz="1650" spc="-2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650" spc="70" dirty="0">
                <a:solidFill>
                  <a:srgbClr val="D5D9D6"/>
                </a:solidFill>
                <a:latin typeface="Tahoma"/>
                <a:cs typeface="Tahoma"/>
              </a:rPr>
              <a:t>name</a:t>
            </a:r>
            <a:r>
              <a:rPr sz="1650" spc="-3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650" spc="60" dirty="0">
                <a:solidFill>
                  <a:srgbClr val="D5D9D6"/>
                </a:solidFill>
                <a:latin typeface="Tahoma"/>
                <a:cs typeface="Tahoma"/>
              </a:rPr>
              <a:t>and</a:t>
            </a:r>
            <a:r>
              <a:rPr sz="1650" spc="-1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D5D9D6"/>
                </a:solidFill>
                <a:latin typeface="Tahoma"/>
                <a:cs typeface="Tahoma"/>
              </a:rPr>
              <a:t>number;</a:t>
            </a:r>
            <a:r>
              <a:rPr sz="1650" spc="-2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650" spc="75" dirty="0">
                <a:solidFill>
                  <a:srgbClr val="D5D9D6"/>
                </a:solidFill>
                <a:latin typeface="Tahoma"/>
                <a:cs typeface="Tahoma"/>
              </a:rPr>
              <a:t>stores</a:t>
            </a:r>
            <a:r>
              <a:rPr sz="1650" spc="-1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D5D9D6"/>
                </a:solidFill>
                <a:latin typeface="Tahoma"/>
                <a:cs typeface="Tahoma"/>
              </a:rPr>
              <a:t>in</a:t>
            </a:r>
            <a:r>
              <a:rPr sz="1650" spc="-1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D5D9D6"/>
                </a:solidFill>
                <a:latin typeface="Tahoma"/>
                <a:cs typeface="Tahoma"/>
              </a:rPr>
              <a:t>Trie,</a:t>
            </a:r>
            <a:r>
              <a:rPr sz="1650" spc="-1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650" spc="85" dirty="0">
                <a:solidFill>
                  <a:srgbClr val="D5D9D6"/>
                </a:solidFill>
                <a:latin typeface="Tahoma"/>
                <a:cs typeface="Tahoma"/>
              </a:rPr>
              <a:t>HashMap,</a:t>
            </a:r>
            <a:r>
              <a:rPr sz="1650" spc="-3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650" spc="60" dirty="0">
                <a:solidFill>
                  <a:srgbClr val="D5D9D6"/>
                </a:solidFill>
                <a:latin typeface="Tahoma"/>
                <a:cs typeface="Tahoma"/>
              </a:rPr>
              <a:t>and</a:t>
            </a:r>
            <a:r>
              <a:rPr sz="1650" spc="-1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650" spc="55" dirty="0">
                <a:solidFill>
                  <a:srgbClr val="D5D9D6"/>
                </a:solidFill>
                <a:latin typeface="Tahoma"/>
                <a:cs typeface="Tahoma"/>
              </a:rPr>
              <a:t>contacts.txt</a:t>
            </a:r>
            <a:r>
              <a:rPr sz="1650" spc="-5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650" spc="50" dirty="0">
                <a:solidFill>
                  <a:srgbClr val="D5D9D6"/>
                </a:solidFill>
                <a:latin typeface="Tahoma"/>
                <a:cs typeface="Tahoma"/>
              </a:rPr>
              <a:t>file</a:t>
            </a:r>
            <a:r>
              <a:rPr sz="1650" spc="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650" spc="60" dirty="0">
                <a:solidFill>
                  <a:srgbClr val="D5D9D6"/>
                </a:solidFill>
                <a:latin typeface="Tahoma"/>
                <a:cs typeface="Tahoma"/>
              </a:rPr>
              <a:t>for</a:t>
            </a:r>
            <a:r>
              <a:rPr sz="1650" spc="-1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650" spc="55" dirty="0">
                <a:solidFill>
                  <a:srgbClr val="D5D9D6"/>
                </a:solidFill>
                <a:latin typeface="Tahoma"/>
                <a:cs typeface="Tahoma"/>
              </a:rPr>
              <a:t>persistence.</a:t>
            </a:r>
            <a:endParaRPr sz="1650" dirty="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35926" y="2939542"/>
            <a:ext cx="473075" cy="473075"/>
          </a:xfrm>
          <a:custGeom>
            <a:avLst/>
            <a:gdLst/>
            <a:ahLst/>
            <a:cxnLst/>
            <a:rect l="l" t="t" r="r" b="b"/>
            <a:pathLst>
              <a:path w="473075" h="473075">
                <a:moveTo>
                  <a:pt x="441490" y="0"/>
                </a:moveTo>
                <a:lnTo>
                  <a:pt x="31534" y="0"/>
                </a:lnTo>
                <a:lnTo>
                  <a:pt x="19261" y="2474"/>
                </a:lnTo>
                <a:lnTo>
                  <a:pt x="9237" y="9223"/>
                </a:lnTo>
                <a:lnTo>
                  <a:pt x="2478" y="19234"/>
                </a:lnTo>
                <a:lnTo>
                  <a:pt x="0" y="31496"/>
                </a:lnTo>
                <a:lnTo>
                  <a:pt x="0" y="441452"/>
                </a:lnTo>
                <a:lnTo>
                  <a:pt x="2478" y="453733"/>
                </a:lnTo>
                <a:lnTo>
                  <a:pt x="9237" y="463788"/>
                </a:lnTo>
                <a:lnTo>
                  <a:pt x="19261" y="470580"/>
                </a:lnTo>
                <a:lnTo>
                  <a:pt x="31534" y="473075"/>
                </a:lnTo>
                <a:lnTo>
                  <a:pt x="441490" y="473075"/>
                </a:lnTo>
                <a:lnTo>
                  <a:pt x="453770" y="470580"/>
                </a:lnTo>
                <a:lnTo>
                  <a:pt x="463797" y="463788"/>
                </a:lnTo>
                <a:lnTo>
                  <a:pt x="470558" y="453733"/>
                </a:lnTo>
                <a:lnTo>
                  <a:pt x="473036" y="441452"/>
                </a:lnTo>
                <a:lnTo>
                  <a:pt x="473036" y="31496"/>
                </a:lnTo>
                <a:lnTo>
                  <a:pt x="470558" y="19234"/>
                </a:lnTo>
                <a:lnTo>
                  <a:pt x="463797" y="9223"/>
                </a:lnTo>
                <a:lnTo>
                  <a:pt x="453770" y="2474"/>
                </a:lnTo>
                <a:lnTo>
                  <a:pt x="441490" y="0"/>
                </a:lnTo>
                <a:close/>
              </a:path>
            </a:pathLst>
          </a:custGeom>
          <a:solidFill>
            <a:srgbClr val="4B50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57752" y="2960418"/>
            <a:ext cx="204470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spc="-50" dirty="0">
                <a:solidFill>
                  <a:srgbClr val="D5D9D6"/>
                </a:solidFill>
                <a:latin typeface="Arial MT"/>
                <a:cs typeface="Arial MT"/>
              </a:rPr>
              <a:t>2</a:t>
            </a:r>
            <a:endParaRPr sz="2450" dirty="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06778" y="2987420"/>
            <a:ext cx="6776084" cy="782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dirty="0">
                <a:solidFill>
                  <a:srgbClr val="D5D9D6"/>
                </a:solidFill>
                <a:latin typeface="Arial MT"/>
                <a:cs typeface="Arial MT"/>
              </a:rPr>
              <a:t>Search</a:t>
            </a:r>
            <a:r>
              <a:rPr sz="2050" spc="-10" dirty="0">
                <a:solidFill>
                  <a:srgbClr val="D5D9D6"/>
                </a:solidFill>
                <a:latin typeface="Arial MT"/>
                <a:cs typeface="Arial MT"/>
              </a:rPr>
              <a:t> </a:t>
            </a:r>
            <a:r>
              <a:rPr sz="2050" spc="125" dirty="0">
                <a:solidFill>
                  <a:srgbClr val="D5D9D6"/>
                </a:solidFill>
                <a:latin typeface="Arial MT"/>
                <a:cs typeface="Arial MT"/>
              </a:rPr>
              <a:t>by</a:t>
            </a:r>
            <a:r>
              <a:rPr sz="2050" dirty="0">
                <a:solidFill>
                  <a:srgbClr val="D5D9D6"/>
                </a:solidFill>
                <a:latin typeface="Arial MT"/>
                <a:cs typeface="Arial MT"/>
              </a:rPr>
              <a:t> Name</a:t>
            </a:r>
            <a:r>
              <a:rPr sz="2050" spc="-15" dirty="0">
                <a:solidFill>
                  <a:srgbClr val="D5D9D6"/>
                </a:solidFill>
                <a:latin typeface="Arial MT"/>
                <a:cs typeface="Arial MT"/>
              </a:rPr>
              <a:t> </a:t>
            </a:r>
            <a:r>
              <a:rPr sz="2050" spc="-10" dirty="0">
                <a:solidFill>
                  <a:srgbClr val="D5D9D6"/>
                </a:solidFill>
                <a:latin typeface="Arial MT"/>
                <a:cs typeface="Arial MT"/>
              </a:rPr>
              <a:t>Prefix</a:t>
            </a:r>
            <a:endParaRPr sz="2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sz="1650" dirty="0">
                <a:solidFill>
                  <a:srgbClr val="D5D9D6"/>
                </a:solidFill>
                <a:latin typeface="Tahoma"/>
                <a:cs typeface="Tahoma"/>
              </a:rPr>
              <a:t>Fast,</a:t>
            </a:r>
            <a:r>
              <a:rPr sz="1650" spc="-1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650" spc="65" dirty="0">
                <a:solidFill>
                  <a:srgbClr val="D5D9D6"/>
                </a:solidFill>
                <a:latin typeface="Tahoma"/>
                <a:cs typeface="Tahoma"/>
              </a:rPr>
              <a:t>real-</a:t>
            </a:r>
            <a:r>
              <a:rPr sz="1650" dirty="0">
                <a:solidFill>
                  <a:srgbClr val="D5D9D6"/>
                </a:solidFill>
                <a:latin typeface="Tahoma"/>
                <a:cs typeface="Tahoma"/>
              </a:rPr>
              <a:t>time</a:t>
            </a:r>
            <a:r>
              <a:rPr sz="1650" spc="2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650" spc="85" dirty="0">
                <a:solidFill>
                  <a:srgbClr val="D5D9D6"/>
                </a:solidFill>
                <a:latin typeface="Tahoma"/>
                <a:cs typeface="Tahoma"/>
              </a:rPr>
              <a:t>search</a:t>
            </a:r>
            <a:r>
              <a:rPr sz="1650" spc="-1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650" spc="65" dirty="0">
                <a:solidFill>
                  <a:srgbClr val="D5D9D6"/>
                </a:solidFill>
                <a:latin typeface="Tahoma"/>
                <a:cs typeface="Tahoma"/>
              </a:rPr>
              <a:t>using</a:t>
            </a:r>
            <a:r>
              <a:rPr sz="1650" spc="-1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650" spc="55" dirty="0">
                <a:solidFill>
                  <a:srgbClr val="D5D9D6"/>
                </a:solidFill>
                <a:latin typeface="Tahoma"/>
                <a:cs typeface="Tahoma"/>
              </a:rPr>
              <a:t>Trie</a:t>
            </a:r>
            <a:r>
              <a:rPr sz="1650" spc="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650" spc="65" dirty="0">
                <a:solidFill>
                  <a:srgbClr val="D5D9D6"/>
                </a:solidFill>
                <a:latin typeface="Tahoma"/>
                <a:cs typeface="Tahoma"/>
              </a:rPr>
              <a:t>structure—type</a:t>
            </a:r>
            <a:r>
              <a:rPr sz="1650" spc="-3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650" spc="90" dirty="0">
                <a:solidFill>
                  <a:srgbClr val="D5D9D6"/>
                </a:solidFill>
                <a:latin typeface="Tahoma"/>
                <a:cs typeface="Tahoma"/>
              </a:rPr>
              <a:t>"Al"</a:t>
            </a:r>
            <a:r>
              <a:rPr sz="1650" spc="-2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D5D9D6"/>
                </a:solidFill>
                <a:latin typeface="Tahoma"/>
                <a:cs typeface="Tahoma"/>
              </a:rPr>
              <a:t>to </a:t>
            </a:r>
            <a:r>
              <a:rPr sz="1650" spc="55" dirty="0">
                <a:solidFill>
                  <a:srgbClr val="D5D9D6"/>
                </a:solidFill>
                <a:latin typeface="Tahoma"/>
                <a:cs typeface="Tahoma"/>
              </a:rPr>
              <a:t>find</a:t>
            </a:r>
            <a:r>
              <a:rPr sz="1650" spc="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650" spc="65" dirty="0">
                <a:solidFill>
                  <a:srgbClr val="D5D9D6"/>
                </a:solidFill>
                <a:latin typeface="Tahoma"/>
                <a:cs typeface="Tahoma"/>
              </a:rPr>
              <a:t>"Alice".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35926" y="4220530"/>
            <a:ext cx="473075" cy="473075"/>
          </a:xfrm>
          <a:custGeom>
            <a:avLst/>
            <a:gdLst/>
            <a:ahLst/>
            <a:cxnLst/>
            <a:rect l="l" t="t" r="r" b="b"/>
            <a:pathLst>
              <a:path w="473075" h="473075">
                <a:moveTo>
                  <a:pt x="441490" y="0"/>
                </a:moveTo>
                <a:lnTo>
                  <a:pt x="31534" y="0"/>
                </a:lnTo>
                <a:lnTo>
                  <a:pt x="19261" y="2474"/>
                </a:lnTo>
                <a:lnTo>
                  <a:pt x="9237" y="9223"/>
                </a:lnTo>
                <a:lnTo>
                  <a:pt x="2478" y="19234"/>
                </a:lnTo>
                <a:lnTo>
                  <a:pt x="0" y="31496"/>
                </a:lnTo>
                <a:lnTo>
                  <a:pt x="0" y="441452"/>
                </a:lnTo>
                <a:lnTo>
                  <a:pt x="2478" y="453786"/>
                </a:lnTo>
                <a:lnTo>
                  <a:pt x="9237" y="463835"/>
                </a:lnTo>
                <a:lnTo>
                  <a:pt x="19261" y="470598"/>
                </a:lnTo>
                <a:lnTo>
                  <a:pt x="31534" y="473075"/>
                </a:lnTo>
                <a:lnTo>
                  <a:pt x="441490" y="473075"/>
                </a:lnTo>
                <a:lnTo>
                  <a:pt x="453770" y="470598"/>
                </a:lnTo>
                <a:lnTo>
                  <a:pt x="463797" y="463835"/>
                </a:lnTo>
                <a:lnTo>
                  <a:pt x="470558" y="453786"/>
                </a:lnTo>
                <a:lnTo>
                  <a:pt x="473036" y="441452"/>
                </a:lnTo>
                <a:lnTo>
                  <a:pt x="473036" y="31496"/>
                </a:lnTo>
                <a:lnTo>
                  <a:pt x="470558" y="19234"/>
                </a:lnTo>
                <a:lnTo>
                  <a:pt x="463797" y="9223"/>
                </a:lnTo>
                <a:lnTo>
                  <a:pt x="453770" y="2474"/>
                </a:lnTo>
                <a:lnTo>
                  <a:pt x="441490" y="0"/>
                </a:lnTo>
                <a:close/>
              </a:path>
            </a:pathLst>
          </a:custGeom>
          <a:solidFill>
            <a:srgbClr val="4B5052"/>
          </a:solidFill>
        </p:spPr>
        <p:txBody>
          <a:bodyPr wrap="square" lIns="0" tIns="0" rIns="0" bIns="0" rtlCol="0"/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IN" sz="2800" spc="70" dirty="0">
                <a:solidFill>
                  <a:srgbClr val="D5D9D6"/>
                </a:solidFill>
                <a:latin typeface="Arial MT"/>
                <a:cs typeface="Arial MT"/>
              </a:rPr>
              <a:t>3</a:t>
            </a:r>
            <a:endParaRPr lang="en-IN" sz="1800" dirty="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06778" y="4067748"/>
            <a:ext cx="5906135" cy="782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dirty="0">
                <a:solidFill>
                  <a:srgbClr val="D5D9D6"/>
                </a:solidFill>
                <a:latin typeface="Arial MT"/>
                <a:cs typeface="Arial MT"/>
              </a:rPr>
              <a:t>Delete</a:t>
            </a:r>
            <a:r>
              <a:rPr sz="2050" spc="200" dirty="0">
                <a:solidFill>
                  <a:srgbClr val="D5D9D6"/>
                </a:solidFill>
                <a:latin typeface="Arial MT"/>
                <a:cs typeface="Arial MT"/>
              </a:rPr>
              <a:t> </a:t>
            </a:r>
            <a:r>
              <a:rPr sz="2050" spc="70" dirty="0">
                <a:solidFill>
                  <a:srgbClr val="D5D9D6"/>
                </a:solidFill>
                <a:latin typeface="Arial MT"/>
                <a:cs typeface="Arial MT"/>
              </a:rPr>
              <a:t>Contacts</a:t>
            </a:r>
            <a:endParaRPr sz="205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sz="1650" spc="80" dirty="0">
                <a:solidFill>
                  <a:srgbClr val="D5D9D6"/>
                </a:solidFill>
                <a:latin typeface="Tahoma"/>
                <a:cs typeface="Tahoma"/>
              </a:rPr>
              <a:t>Remove</a:t>
            </a:r>
            <a:r>
              <a:rPr sz="1650" spc="-4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650" spc="80" dirty="0">
                <a:solidFill>
                  <a:srgbClr val="D5D9D6"/>
                </a:solidFill>
                <a:latin typeface="Tahoma"/>
                <a:cs typeface="Tahoma"/>
              </a:rPr>
              <a:t>contacts</a:t>
            </a:r>
            <a:r>
              <a:rPr sz="1650" spc="-4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650" spc="55" dirty="0">
                <a:solidFill>
                  <a:srgbClr val="D5D9D6"/>
                </a:solidFill>
                <a:latin typeface="Tahoma"/>
                <a:cs typeface="Tahoma"/>
              </a:rPr>
              <a:t>from</a:t>
            </a:r>
            <a:r>
              <a:rPr sz="1650" spc="-2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650" dirty="0">
                <a:solidFill>
                  <a:srgbClr val="D5D9D6"/>
                </a:solidFill>
                <a:latin typeface="Tahoma"/>
                <a:cs typeface="Tahoma"/>
              </a:rPr>
              <a:t>Trie, </a:t>
            </a:r>
            <a:r>
              <a:rPr sz="1650" spc="80" dirty="0">
                <a:solidFill>
                  <a:srgbClr val="D5D9D6"/>
                </a:solidFill>
                <a:latin typeface="Tahoma"/>
                <a:cs typeface="Tahoma"/>
              </a:rPr>
              <a:t>HashMap,</a:t>
            </a:r>
            <a:r>
              <a:rPr sz="1650" spc="-4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650" spc="65" dirty="0">
                <a:solidFill>
                  <a:srgbClr val="D5D9D6"/>
                </a:solidFill>
                <a:latin typeface="Tahoma"/>
                <a:cs typeface="Tahoma"/>
              </a:rPr>
              <a:t>and</a:t>
            </a:r>
            <a:r>
              <a:rPr sz="1650" spc="-2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650" spc="50" dirty="0">
                <a:solidFill>
                  <a:srgbClr val="D5D9D6"/>
                </a:solidFill>
                <a:latin typeface="Tahoma"/>
                <a:cs typeface="Tahoma"/>
              </a:rPr>
              <a:t>contacts.txt</a:t>
            </a:r>
            <a:r>
              <a:rPr sz="1650" spc="-5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D5D9D6"/>
                </a:solidFill>
                <a:latin typeface="Tahoma"/>
                <a:cs typeface="Tahoma"/>
              </a:rPr>
              <a:t>file.</a:t>
            </a:r>
            <a:endParaRPr sz="1650" dirty="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35926" y="5501518"/>
            <a:ext cx="473075" cy="473075"/>
          </a:xfrm>
          <a:custGeom>
            <a:avLst/>
            <a:gdLst/>
            <a:ahLst/>
            <a:cxnLst/>
            <a:rect l="l" t="t" r="r" b="b"/>
            <a:pathLst>
              <a:path w="473075" h="473075">
                <a:moveTo>
                  <a:pt x="441490" y="0"/>
                </a:moveTo>
                <a:lnTo>
                  <a:pt x="31534" y="0"/>
                </a:lnTo>
                <a:lnTo>
                  <a:pt x="19261" y="2474"/>
                </a:lnTo>
                <a:lnTo>
                  <a:pt x="9237" y="9223"/>
                </a:lnTo>
                <a:lnTo>
                  <a:pt x="2478" y="19234"/>
                </a:lnTo>
                <a:lnTo>
                  <a:pt x="0" y="31495"/>
                </a:lnTo>
                <a:lnTo>
                  <a:pt x="0" y="441502"/>
                </a:lnTo>
                <a:lnTo>
                  <a:pt x="2478" y="453782"/>
                </a:lnTo>
                <a:lnTo>
                  <a:pt x="9237" y="463810"/>
                </a:lnTo>
                <a:lnTo>
                  <a:pt x="19261" y="470570"/>
                </a:lnTo>
                <a:lnTo>
                  <a:pt x="31534" y="473049"/>
                </a:lnTo>
                <a:lnTo>
                  <a:pt x="441490" y="473049"/>
                </a:lnTo>
                <a:lnTo>
                  <a:pt x="453770" y="470570"/>
                </a:lnTo>
                <a:lnTo>
                  <a:pt x="463797" y="463810"/>
                </a:lnTo>
                <a:lnTo>
                  <a:pt x="470558" y="453782"/>
                </a:lnTo>
                <a:lnTo>
                  <a:pt x="473036" y="441502"/>
                </a:lnTo>
                <a:lnTo>
                  <a:pt x="473036" y="31495"/>
                </a:lnTo>
                <a:lnTo>
                  <a:pt x="470558" y="19234"/>
                </a:lnTo>
                <a:lnTo>
                  <a:pt x="463797" y="9223"/>
                </a:lnTo>
                <a:lnTo>
                  <a:pt x="453770" y="2474"/>
                </a:lnTo>
                <a:lnTo>
                  <a:pt x="441490" y="0"/>
                </a:lnTo>
                <a:close/>
              </a:path>
            </a:pathLst>
          </a:custGeom>
          <a:solidFill>
            <a:srgbClr val="4B5052"/>
          </a:solidFill>
        </p:spPr>
        <p:txBody>
          <a:bodyPr wrap="square" lIns="0" tIns="0" rIns="0" bIns="0" rtlCol="0"/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IN" sz="2800" spc="70" dirty="0">
                <a:solidFill>
                  <a:srgbClr val="D5D9D6"/>
                </a:solidFill>
                <a:latin typeface="Arial MT"/>
                <a:cs typeface="Arial MT"/>
              </a:rPr>
              <a:t>4</a:t>
            </a:r>
            <a:endParaRPr lang="en-IN" sz="2800" dirty="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06778" y="5501518"/>
            <a:ext cx="5622290" cy="782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dirty="0">
                <a:solidFill>
                  <a:srgbClr val="D5D9D6"/>
                </a:solidFill>
                <a:latin typeface="Arial MT"/>
                <a:cs typeface="Arial MT"/>
              </a:rPr>
              <a:t>File</a:t>
            </a:r>
            <a:r>
              <a:rPr sz="2050" spc="-114" dirty="0">
                <a:solidFill>
                  <a:srgbClr val="D5D9D6"/>
                </a:solidFill>
                <a:latin typeface="Arial MT"/>
                <a:cs typeface="Arial MT"/>
              </a:rPr>
              <a:t> </a:t>
            </a:r>
            <a:r>
              <a:rPr sz="2050" spc="-10" dirty="0">
                <a:solidFill>
                  <a:srgbClr val="D5D9D6"/>
                </a:solidFill>
                <a:latin typeface="Arial MT"/>
                <a:cs typeface="Arial MT"/>
              </a:rPr>
              <a:t>Persistence</a:t>
            </a:r>
            <a:endParaRPr sz="205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sz="1650" spc="60" dirty="0">
                <a:solidFill>
                  <a:srgbClr val="D5D9D6"/>
                </a:solidFill>
                <a:latin typeface="Tahoma"/>
                <a:cs typeface="Tahoma"/>
              </a:rPr>
              <a:t>All</a:t>
            </a:r>
            <a:r>
              <a:rPr sz="1650" spc="-4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650" spc="80" dirty="0">
                <a:solidFill>
                  <a:srgbClr val="D5D9D6"/>
                </a:solidFill>
                <a:latin typeface="Tahoma"/>
                <a:cs typeface="Tahoma"/>
              </a:rPr>
              <a:t>contacts</a:t>
            </a:r>
            <a:r>
              <a:rPr sz="1650" spc="-7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650" spc="60" dirty="0">
                <a:solidFill>
                  <a:srgbClr val="D5D9D6"/>
                </a:solidFill>
                <a:latin typeface="Tahoma"/>
                <a:cs typeface="Tahoma"/>
              </a:rPr>
              <a:t>auto-</a:t>
            </a:r>
            <a:r>
              <a:rPr sz="1650" spc="95" dirty="0">
                <a:solidFill>
                  <a:srgbClr val="D5D9D6"/>
                </a:solidFill>
                <a:latin typeface="Tahoma"/>
                <a:cs typeface="Tahoma"/>
              </a:rPr>
              <a:t>saved</a:t>
            </a:r>
            <a:r>
              <a:rPr sz="1650" spc="-7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650" spc="65" dirty="0">
                <a:solidFill>
                  <a:srgbClr val="D5D9D6"/>
                </a:solidFill>
                <a:latin typeface="Tahoma"/>
                <a:cs typeface="Tahoma"/>
              </a:rPr>
              <a:t>and</a:t>
            </a:r>
            <a:r>
              <a:rPr sz="1650" spc="-6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650" spc="60" dirty="0">
                <a:solidFill>
                  <a:srgbClr val="D5D9D6"/>
                </a:solidFill>
                <a:latin typeface="Tahoma"/>
                <a:cs typeface="Tahoma"/>
              </a:rPr>
              <a:t>auto-</a:t>
            </a:r>
            <a:r>
              <a:rPr sz="1650" spc="70" dirty="0">
                <a:solidFill>
                  <a:srgbClr val="D5D9D6"/>
                </a:solidFill>
                <a:latin typeface="Tahoma"/>
                <a:cs typeface="Tahoma"/>
              </a:rPr>
              <a:t>loaded</a:t>
            </a:r>
            <a:r>
              <a:rPr sz="1650" spc="-4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650" spc="65" dirty="0">
                <a:solidFill>
                  <a:srgbClr val="D5D9D6"/>
                </a:solidFill>
                <a:latin typeface="Tahoma"/>
                <a:cs typeface="Tahoma"/>
              </a:rPr>
              <a:t>on</a:t>
            </a:r>
            <a:r>
              <a:rPr sz="1650" spc="-6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650" spc="80" dirty="0">
                <a:solidFill>
                  <a:srgbClr val="D5D9D6"/>
                </a:solidFill>
                <a:latin typeface="Tahoma"/>
                <a:cs typeface="Tahoma"/>
              </a:rPr>
              <a:t>app</a:t>
            </a:r>
            <a:r>
              <a:rPr sz="1650" spc="-5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D5D9D6"/>
                </a:solidFill>
                <a:latin typeface="Tahoma"/>
                <a:cs typeface="Tahoma"/>
              </a:rPr>
              <a:t>startup.</a:t>
            </a:r>
            <a:endParaRPr sz="1650" dirty="0">
              <a:latin typeface="Tahoma"/>
              <a:cs typeface="Tahoma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3149C3E-49FD-3BB3-32C5-6D340924E8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600"/>
            <a:ext cx="8382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817602" y="7743749"/>
            <a:ext cx="1744345" cy="417830"/>
            <a:chOff x="12817602" y="7743749"/>
            <a:chExt cx="1744345" cy="417830"/>
          </a:xfrm>
        </p:grpSpPr>
        <p:sp>
          <p:nvSpPr>
            <p:cNvPr id="3" name="object 3">
              <a:hlinkClick r:id="rId2"/>
            </p:cNvPr>
            <p:cNvSpPr/>
            <p:nvPr/>
          </p:nvSpPr>
          <p:spPr>
            <a:xfrm>
              <a:off x="12823952" y="7750099"/>
              <a:ext cx="1684020" cy="336550"/>
            </a:xfrm>
            <a:custGeom>
              <a:avLst/>
              <a:gdLst/>
              <a:ahLst/>
              <a:cxnLst/>
              <a:rect l="l" t="t" r="r" b="b"/>
              <a:pathLst>
                <a:path w="1684019" h="336550">
                  <a:moveTo>
                    <a:pt x="1683892" y="0"/>
                  </a:moveTo>
                  <a:lnTo>
                    <a:pt x="0" y="0"/>
                  </a:lnTo>
                  <a:lnTo>
                    <a:pt x="0" y="336346"/>
                  </a:lnTo>
                  <a:lnTo>
                    <a:pt x="1683892" y="336346"/>
                  </a:lnTo>
                  <a:lnTo>
                    <a:pt x="1683892" y="0"/>
                  </a:lnTo>
                  <a:close/>
                </a:path>
              </a:pathLst>
            </a:custGeom>
            <a:solidFill>
              <a:srgbClr val="2C30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hlinkClick r:id="rId2"/>
            </p:cNvPr>
            <p:cNvSpPr/>
            <p:nvPr/>
          </p:nvSpPr>
          <p:spPr>
            <a:xfrm>
              <a:off x="12823952" y="7750099"/>
              <a:ext cx="1684020" cy="336550"/>
            </a:xfrm>
            <a:custGeom>
              <a:avLst/>
              <a:gdLst/>
              <a:ahLst/>
              <a:cxnLst/>
              <a:rect l="l" t="t" r="r" b="b"/>
              <a:pathLst>
                <a:path w="1684019" h="336550">
                  <a:moveTo>
                    <a:pt x="0" y="336346"/>
                  </a:moveTo>
                  <a:lnTo>
                    <a:pt x="1683892" y="336346"/>
                  </a:lnTo>
                  <a:lnTo>
                    <a:pt x="1683892" y="0"/>
                  </a:lnTo>
                  <a:lnTo>
                    <a:pt x="0" y="0"/>
                  </a:lnTo>
                  <a:lnTo>
                    <a:pt x="0" y="336346"/>
                  </a:lnTo>
                  <a:close/>
                </a:path>
              </a:pathLst>
            </a:custGeom>
            <a:ln w="12699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40" dirty="0"/>
              <a:t> </a:t>
            </a:r>
            <a:r>
              <a:rPr spc="160" dirty="0"/>
              <a:t>Structure</a:t>
            </a:r>
            <a:r>
              <a:rPr spc="55" dirty="0"/>
              <a:t> </a:t>
            </a:r>
            <a:r>
              <a:rPr spc="130" dirty="0"/>
              <a:t>Implementation</a:t>
            </a: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87273" y="3058667"/>
          <a:ext cx="13027660" cy="32658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97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2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7860">
                <a:tc>
                  <a:txBody>
                    <a:bodyPr/>
                    <a:lstStyle/>
                    <a:p>
                      <a:pPr marL="226695">
                        <a:lnSpc>
                          <a:spcPct val="100000"/>
                        </a:lnSpc>
                        <a:spcBef>
                          <a:spcPts val="1614"/>
                        </a:spcBef>
                      </a:pPr>
                      <a:r>
                        <a:rPr sz="1750" b="1" spc="-95" dirty="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Data</a:t>
                      </a:r>
                      <a:r>
                        <a:rPr sz="1750" b="1" spc="-30" dirty="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750" b="1" spc="-10" dirty="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Structure</a:t>
                      </a:r>
                      <a:endParaRPr sz="1750">
                        <a:latin typeface="Tahoma"/>
                        <a:cs typeface="Tahoma"/>
                      </a:endParaRPr>
                    </a:p>
                  </a:txBody>
                  <a:tcPr marL="0" marR="0" marT="205104" marB="0">
                    <a:lnL w="28575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FFFFFF"/>
                      </a:solidFill>
                      <a:prstDash val="solid"/>
                    </a:lnT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44039">
                        <a:lnSpc>
                          <a:spcPct val="100000"/>
                        </a:lnSpc>
                        <a:spcBef>
                          <a:spcPts val="1614"/>
                        </a:spcBef>
                      </a:pPr>
                      <a:r>
                        <a:rPr sz="1750" b="1" spc="-10" dirty="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Application</a:t>
                      </a:r>
                      <a:endParaRPr sz="1750">
                        <a:latin typeface="Tahoma"/>
                        <a:cs typeface="Tahoma"/>
                      </a:endParaRPr>
                    </a:p>
                  </a:txBody>
                  <a:tcPr marL="0" marR="0" marT="205104" marB="0">
                    <a:lnR w="2857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solidFill>
                      <a:srgbClr val="FFFFFF">
                        <a:alpha val="392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605">
                <a:tc>
                  <a:txBody>
                    <a:bodyPr/>
                    <a:lstStyle/>
                    <a:p>
                      <a:pPr marL="226695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sz="1750" spc="35" dirty="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Trie</a:t>
                      </a:r>
                      <a:endParaRPr sz="1750">
                        <a:latin typeface="Tahoma"/>
                        <a:cs typeface="Tahoma"/>
                      </a:endParaRPr>
                    </a:p>
                  </a:txBody>
                  <a:tcPr marL="0" marR="0" marT="197485" marB="0">
                    <a:lnL w="28575">
                      <a:solidFill>
                        <a:srgbClr val="FFFFFF"/>
                      </a:solidFill>
                      <a:prstDash val="solid"/>
                    </a:lnL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44039">
                        <a:lnSpc>
                          <a:spcPct val="100000"/>
                        </a:lnSpc>
                        <a:spcBef>
                          <a:spcPts val="1555"/>
                        </a:spcBef>
                      </a:pPr>
                      <a:r>
                        <a:rPr sz="1750" spc="75" dirty="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Fast</a:t>
                      </a:r>
                      <a:r>
                        <a:rPr sz="1750" spc="-45" dirty="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750" spc="80" dirty="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prefix-</a:t>
                      </a:r>
                      <a:r>
                        <a:rPr sz="1750" spc="95" dirty="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based</a:t>
                      </a:r>
                      <a:r>
                        <a:rPr sz="1750" spc="-20" dirty="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750" spc="90" dirty="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search</a:t>
                      </a:r>
                      <a:r>
                        <a:rPr sz="1750" spc="-35" dirty="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750" spc="85" dirty="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of</a:t>
                      </a:r>
                      <a:r>
                        <a:rPr sz="1750" spc="-55" dirty="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750" spc="75" dirty="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contact</a:t>
                      </a:r>
                      <a:r>
                        <a:rPr sz="1750" spc="-35" dirty="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750" spc="70" dirty="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names</a:t>
                      </a:r>
                      <a:endParaRPr sz="1750">
                        <a:latin typeface="Tahoma"/>
                        <a:cs typeface="Tahoma"/>
                      </a:endParaRPr>
                    </a:p>
                  </a:txBody>
                  <a:tcPr marL="0" marR="0" marT="197485" marB="0">
                    <a:lnR w="28575">
                      <a:solidFill>
                        <a:srgbClr val="FFFFFF"/>
                      </a:solidFill>
                      <a:prstDash val="solid"/>
                    </a:lnR>
                    <a:solidFill>
                      <a:srgbClr val="000000">
                        <a:alpha val="392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pPr marL="226695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sz="1750" spc="90" dirty="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HashMap</a:t>
                      </a:r>
                      <a:endParaRPr sz="1750">
                        <a:latin typeface="Tahoma"/>
                        <a:cs typeface="Tahoma"/>
                      </a:endParaRPr>
                    </a:p>
                  </a:txBody>
                  <a:tcPr marL="0" marR="0" marT="198120" marB="0">
                    <a:lnL w="28575">
                      <a:solidFill>
                        <a:srgbClr val="FFFFFF"/>
                      </a:solidFill>
                      <a:prstDash val="solid"/>
                    </a:lnL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44039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sz="1750" spc="125" dirty="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Map</a:t>
                      </a:r>
                      <a:r>
                        <a:rPr sz="1750" spc="-40" dirty="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750" spc="80" dirty="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names</a:t>
                      </a:r>
                      <a:r>
                        <a:rPr sz="1750" spc="-30" dirty="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750" dirty="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to</a:t>
                      </a:r>
                      <a:r>
                        <a:rPr sz="1750" spc="-40" dirty="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750" spc="50" dirty="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numbers;</a:t>
                      </a:r>
                      <a:r>
                        <a:rPr sz="1750" spc="-20" dirty="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750" spc="70" dirty="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enable</a:t>
                      </a:r>
                      <a:r>
                        <a:rPr sz="1750" spc="-10" dirty="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750" spc="80" dirty="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reverse</a:t>
                      </a:r>
                      <a:r>
                        <a:rPr sz="1750" spc="-30" dirty="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750" spc="60" dirty="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lookup</a:t>
                      </a:r>
                      <a:endParaRPr sz="1750">
                        <a:latin typeface="Tahoma"/>
                        <a:cs typeface="Tahoma"/>
                      </a:endParaRPr>
                    </a:p>
                  </a:txBody>
                  <a:tcPr marL="0" marR="0" marT="198120" marB="0">
                    <a:lnR w="28575">
                      <a:solidFill>
                        <a:srgbClr val="FFFFFF"/>
                      </a:solidFill>
                      <a:prstDash val="solid"/>
                    </a:lnR>
                    <a:solidFill>
                      <a:srgbClr val="FFFFFF">
                        <a:alpha val="392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pPr marL="226695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sz="1750" spc="60" dirty="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File</a:t>
                      </a:r>
                      <a:r>
                        <a:rPr sz="1750" spc="-45" dirty="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750" spc="-25" dirty="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I/O</a:t>
                      </a:r>
                      <a:endParaRPr sz="1750">
                        <a:latin typeface="Tahoma"/>
                        <a:cs typeface="Tahoma"/>
                      </a:endParaRPr>
                    </a:p>
                  </a:txBody>
                  <a:tcPr marL="0" marR="0" marT="198120" marB="0">
                    <a:lnL w="28575">
                      <a:solidFill>
                        <a:srgbClr val="FFFFFF"/>
                      </a:solidFill>
                      <a:prstDash val="solid"/>
                    </a:lnL>
                    <a:solidFill>
                      <a:srgbClr val="000000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44039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sz="1750" spc="65" dirty="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Persistent</a:t>
                      </a:r>
                      <a:r>
                        <a:rPr sz="1750" spc="-10" dirty="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750" spc="70" dirty="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storage</a:t>
                      </a:r>
                      <a:r>
                        <a:rPr sz="1750" spc="-15" dirty="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750" dirty="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in</a:t>
                      </a:r>
                      <a:r>
                        <a:rPr sz="1750" spc="-20" dirty="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750" spc="45" dirty="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contacts.txt</a:t>
                      </a:r>
                      <a:endParaRPr sz="1750">
                        <a:latin typeface="Tahoma"/>
                        <a:cs typeface="Tahoma"/>
                      </a:endParaRPr>
                    </a:p>
                  </a:txBody>
                  <a:tcPr marL="0" marR="0" marT="198120" marB="0">
                    <a:lnR w="28575">
                      <a:solidFill>
                        <a:srgbClr val="FFFFFF"/>
                      </a:solidFill>
                      <a:prstDash val="solid"/>
                    </a:lnR>
                    <a:solidFill>
                      <a:srgbClr val="000000">
                        <a:alpha val="392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7860">
                <a:tc>
                  <a:txBody>
                    <a:bodyPr/>
                    <a:lstStyle/>
                    <a:p>
                      <a:pPr marL="226695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sz="1750" spc="65" dirty="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Array</a:t>
                      </a:r>
                      <a:endParaRPr sz="1750">
                        <a:latin typeface="Tahoma"/>
                        <a:cs typeface="Tahoma"/>
                      </a:endParaRPr>
                    </a:p>
                  </a:txBody>
                  <a:tcPr marL="0" marR="0" marT="198120" marB="0">
                    <a:lnL w="28575">
                      <a:solidFill>
                        <a:srgbClr val="FFFFFF"/>
                      </a:solidFill>
                      <a:prstDash val="solid"/>
                    </a:lnL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44039">
                        <a:lnSpc>
                          <a:spcPct val="100000"/>
                        </a:lnSpc>
                        <a:spcBef>
                          <a:spcPts val="1560"/>
                        </a:spcBef>
                      </a:pPr>
                      <a:r>
                        <a:rPr sz="1750" spc="85" dirty="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TrieNode</a:t>
                      </a:r>
                      <a:r>
                        <a:rPr sz="1750" spc="20" dirty="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750" dirty="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maintains</a:t>
                      </a:r>
                      <a:r>
                        <a:rPr sz="1750" spc="40" dirty="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750" spc="120" dirty="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26</a:t>
                      </a:r>
                      <a:r>
                        <a:rPr sz="1750" spc="10" dirty="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750" spc="70" dirty="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child</a:t>
                      </a:r>
                      <a:r>
                        <a:rPr sz="1750" spc="35" dirty="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750" spc="100" dirty="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nodes</a:t>
                      </a:r>
                      <a:r>
                        <a:rPr sz="1750" spc="30" dirty="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750" spc="65" dirty="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for</a:t>
                      </a:r>
                      <a:r>
                        <a:rPr sz="1750" spc="10" dirty="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750" spc="40" dirty="0">
                          <a:solidFill>
                            <a:srgbClr val="D5D9D6"/>
                          </a:solidFill>
                          <a:latin typeface="Tahoma"/>
                          <a:cs typeface="Tahoma"/>
                        </a:rPr>
                        <a:t>letters</a:t>
                      </a:r>
                      <a:endParaRPr sz="1750">
                        <a:latin typeface="Tahoma"/>
                        <a:cs typeface="Tahoma"/>
                      </a:endParaRPr>
                    </a:p>
                  </a:txBody>
                  <a:tcPr marL="0" marR="0" marT="198120" marB="0">
                    <a:lnR w="2857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392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1C1ADDCF-C14F-36E4-D078-6FA4EC41DEE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600"/>
            <a:ext cx="8382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2970" y="4355338"/>
            <a:ext cx="62026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65" dirty="0">
                <a:solidFill>
                  <a:srgbClr val="F7F7F8"/>
                </a:solidFill>
                <a:latin typeface="Arial MT"/>
                <a:cs typeface="Arial MT"/>
              </a:rPr>
              <a:t>GUI</a:t>
            </a:r>
            <a:r>
              <a:rPr sz="4000" spc="-60" dirty="0">
                <a:solidFill>
                  <a:srgbClr val="F7F7F8"/>
                </a:solidFill>
                <a:latin typeface="Arial MT"/>
                <a:cs typeface="Arial MT"/>
              </a:rPr>
              <a:t> </a:t>
            </a:r>
            <a:r>
              <a:rPr sz="4000" dirty="0">
                <a:solidFill>
                  <a:srgbClr val="F7F7F8"/>
                </a:solidFill>
                <a:latin typeface="Arial MT"/>
                <a:cs typeface="Arial MT"/>
              </a:rPr>
              <a:t>Design</a:t>
            </a:r>
            <a:r>
              <a:rPr sz="4000" spc="-55" dirty="0">
                <a:solidFill>
                  <a:srgbClr val="F7F7F8"/>
                </a:solidFill>
                <a:latin typeface="Arial MT"/>
                <a:cs typeface="Arial MT"/>
              </a:rPr>
              <a:t> </a:t>
            </a:r>
            <a:r>
              <a:rPr sz="4000" spc="265" dirty="0">
                <a:solidFill>
                  <a:srgbClr val="F7F7F8"/>
                </a:solidFill>
                <a:latin typeface="Arial MT"/>
                <a:cs typeface="Arial MT"/>
              </a:rPr>
              <a:t>&amp;</a:t>
            </a:r>
            <a:r>
              <a:rPr sz="4000" spc="-75" dirty="0">
                <a:solidFill>
                  <a:srgbClr val="F7F7F8"/>
                </a:solidFill>
                <a:latin typeface="Arial MT"/>
                <a:cs typeface="Arial MT"/>
              </a:rPr>
              <a:t> </a:t>
            </a:r>
            <a:r>
              <a:rPr sz="4000" spc="140" dirty="0">
                <a:solidFill>
                  <a:srgbClr val="F7F7F8"/>
                </a:solidFill>
                <a:latin typeface="Arial MT"/>
                <a:cs typeface="Arial MT"/>
              </a:rPr>
              <a:t>Architecture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2970" y="5519420"/>
            <a:ext cx="26873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60" dirty="0">
                <a:solidFill>
                  <a:srgbClr val="F7F7F8"/>
                </a:solidFill>
                <a:latin typeface="Arial MT"/>
                <a:cs typeface="Arial MT"/>
              </a:rPr>
              <a:t>Interface</a:t>
            </a:r>
            <a:r>
              <a:rPr sz="2000" spc="-25" dirty="0">
                <a:solidFill>
                  <a:srgbClr val="F7F7F8"/>
                </a:solidFill>
                <a:latin typeface="Arial MT"/>
                <a:cs typeface="Arial MT"/>
              </a:rPr>
              <a:t> </a:t>
            </a:r>
            <a:r>
              <a:rPr sz="2000" spc="55" dirty="0">
                <a:solidFill>
                  <a:srgbClr val="F7F7F8"/>
                </a:solidFill>
                <a:latin typeface="Arial MT"/>
                <a:cs typeface="Arial MT"/>
              </a:rPr>
              <a:t>Components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2970" y="6105905"/>
            <a:ext cx="4027170" cy="1464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</a:tabLst>
            </a:pPr>
            <a:r>
              <a:rPr sz="1600" spc="110" dirty="0">
                <a:solidFill>
                  <a:srgbClr val="D5D9D6"/>
                </a:solidFill>
                <a:latin typeface="Tahoma"/>
                <a:cs typeface="Tahoma"/>
              </a:rPr>
              <a:t>Java</a:t>
            </a:r>
            <a:r>
              <a:rPr sz="1600" spc="-4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600" spc="80" dirty="0">
                <a:solidFill>
                  <a:srgbClr val="D5D9D6"/>
                </a:solidFill>
                <a:latin typeface="Tahoma"/>
                <a:cs typeface="Tahoma"/>
              </a:rPr>
              <a:t>Swing</a:t>
            </a:r>
            <a:r>
              <a:rPr sz="1600" spc="-2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600" spc="50" dirty="0">
                <a:solidFill>
                  <a:srgbClr val="D5D9D6"/>
                </a:solidFill>
                <a:latin typeface="Tahoma"/>
                <a:cs typeface="Tahoma"/>
              </a:rPr>
              <a:t>framework</a:t>
            </a:r>
            <a:endParaRPr sz="16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1220"/>
              </a:spcBef>
              <a:buChar char="•"/>
              <a:tabLst>
                <a:tab pos="354965" algn="l"/>
              </a:tabLst>
            </a:pPr>
            <a:r>
              <a:rPr sz="1600" spc="55" dirty="0">
                <a:solidFill>
                  <a:srgbClr val="D5D9D6"/>
                </a:solidFill>
                <a:latin typeface="Tahoma"/>
                <a:cs typeface="Tahoma"/>
              </a:rPr>
              <a:t>GridLayout</a:t>
            </a:r>
            <a:r>
              <a:rPr sz="1600" spc="4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600" spc="55" dirty="0">
                <a:solidFill>
                  <a:srgbClr val="D5D9D6"/>
                </a:solidFill>
                <a:latin typeface="Tahoma"/>
                <a:cs typeface="Tahoma"/>
              </a:rPr>
              <a:t>for</a:t>
            </a:r>
            <a:r>
              <a:rPr sz="1600" spc="2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D5D9D6"/>
                </a:solidFill>
                <a:latin typeface="Tahoma"/>
                <a:cs typeface="Tahoma"/>
              </a:rPr>
              <a:t>button</a:t>
            </a:r>
            <a:r>
              <a:rPr sz="1600" spc="2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600" spc="35" dirty="0">
                <a:solidFill>
                  <a:srgbClr val="D5D9D6"/>
                </a:solidFill>
                <a:latin typeface="Tahoma"/>
                <a:cs typeface="Tahoma"/>
              </a:rPr>
              <a:t>arrangement</a:t>
            </a:r>
            <a:endParaRPr sz="16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1215"/>
              </a:spcBef>
              <a:buChar char="•"/>
              <a:tabLst>
                <a:tab pos="354965" algn="l"/>
              </a:tabLst>
            </a:pPr>
            <a:r>
              <a:rPr sz="1600" spc="85" dirty="0">
                <a:solidFill>
                  <a:srgbClr val="D5D9D6"/>
                </a:solidFill>
                <a:latin typeface="Tahoma"/>
                <a:cs typeface="Tahoma"/>
              </a:rPr>
              <a:t>JTextArea</a:t>
            </a:r>
            <a:r>
              <a:rPr sz="1600" spc="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D5D9D6"/>
                </a:solidFill>
                <a:latin typeface="Tahoma"/>
                <a:cs typeface="Tahoma"/>
              </a:rPr>
              <a:t>with</a:t>
            </a:r>
            <a:r>
              <a:rPr sz="1600" spc="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600" spc="90" dirty="0">
                <a:solidFill>
                  <a:srgbClr val="D5D9D6"/>
                </a:solidFill>
                <a:latin typeface="Tahoma"/>
                <a:cs typeface="Tahoma"/>
              </a:rPr>
              <a:t>JScrollPane</a:t>
            </a:r>
            <a:r>
              <a:rPr sz="1600" spc="2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600" spc="55" dirty="0">
                <a:solidFill>
                  <a:srgbClr val="D5D9D6"/>
                </a:solidFill>
                <a:latin typeface="Tahoma"/>
                <a:cs typeface="Tahoma"/>
              </a:rPr>
              <a:t>for</a:t>
            </a:r>
            <a:r>
              <a:rPr sz="160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D5D9D6"/>
                </a:solidFill>
                <a:latin typeface="Tahoma"/>
                <a:cs typeface="Tahoma"/>
              </a:rPr>
              <a:t>output</a:t>
            </a:r>
            <a:endParaRPr sz="16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1220"/>
              </a:spcBef>
              <a:buChar char="•"/>
              <a:tabLst>
                <a:tab pos="354965" algn="l"/>
              </a:tabLst>
            </a:pPr>
            <a:r>
              <a:rPr sz="1600" spc="75" dirty="0">
                <a:solidFill>
                  <a:srgbClr val="D5D9D6"/>
                </a:solidFill>
                <a:latin typeface="Tahoma"/>
                <a:cs typeface="Tahoma"/>
              </a:rPr>
              <a:t>JOptionPane</a:t>
            </a:r>
            <a:r>
              <a:rPr sz="1600" spc="-2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600" spc="55" dirty="0">
                <a:solidFill>
                  <a:srgbClr val="D5D9D6"/>
                </a:solidFill>
                <a:latin typeface="Tahoma"/>
                <a:cs typeface="Tahoma"/>
              </a:rPr>
              <a:t>for</a:t>
            </a:r>
            <a:r>
              <a:rPr sz="1600" spc="-3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600" spc="70" dirty="0">
                <a:solidFill>
                  <a:srgbClr val="D5D9D6"/>
                </a:solidFill>
                <a:latin typeface="Tahoma"/>
                <a:cs typeface="Tahoma"/>
              </a:rPr>
              <a:t>user</a:t>
            </a:r>
            <a:r>
              <a:rPr sz="1600" spc="-3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D5D9D6"/>
                </a:solidFill>
                <a:latin typeface="Tahoma"/>
                <a:cs typeface="Tahoma"/>
              </a:rPr>
              <a:t>input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60309" y="5519420"/>
            <a:ext cx="20332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7F7F8"/>
                </a:solidFill>
                <a:latin typeface="Arial MT"/>
                <a:cs typeface="Arial MT"/>
              </a:rPr>
              <a:t>Design</a:t>
            </a:r>
            <a:r>
              <a:rPr sz="2000" spc="-40" dirty="0">
                <a:solidFill>
                  <a:srgbClr val="F7F7F8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7F7F8"/>
                </a:solidFill>
                <a:latin typeface="Arial MT"/>
                <a:cs typeface="Arial MT"/>
              </a:rPr>
              <a:t>Principles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60309" y="6105905"/>
            <a:ext cx="2950845" cy="1464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</a:tabLst>
            </a:pPr>
            <a:r>
              <a:rPr sz="1600" spc="60" dirty="0">
                <a:solidFill>
                  <a:srgbClr val="D5D9D6"/>
                </a:solidFill>
                <a:latin typeface="Tahoma"/>
                <a:cs typeface="Tahoma"/>
              </a:rPr>
              <a:t>Clean,</a:t>
            </a:r>
            <a:r>
              <a:rPr sz="1600" spc="-1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600" spc="60" dirty="0">
                <a:solidFill>
                  <a:srgbClr val="D5D9D6"/>
                </a:solidFill>
                <a:latin typeface="Tahoma"/>
                <a:cs typeface="Tahoma"/>
              </a:rPr>
              <a:t>modern</a:t>
            </a:r>
            <a:r>
              <a:rPr sz="1600" spc="-3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600" spc="50" dirty="0">
                <a:solidFill>
                  <a:srgbClr val="D5D9D6"/>
                </a:solidFill>
                <a:latin typeface="Tahoma"/>
                <a:cs typeface="Tahoma"/>
              </a:rPr>
              <a:t>interface</a:t>
            </a:r>
            <a:endParaRPr sz="16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1220"/>
              </a:spcBef>
              <a:buChar char="•"/>
              <a:tabLst>
                <a:tab pos="354965" algn="l"/>
              </a:tabLst>
            </a:pPr>
            <a:r>
              <a:rPr sz="1600" spc="65" dirty="0">
                <a:solidFill>
                  <a:srgbClr val="D5D9D6"/>
                </a:solidFill>
                <a:latin typeface="Tahoma"/>
                <a:cs typeface="Tahoma"/>
              </a:rPr>
              <a:t>Event-</a:t>
            </a:r>
            <a:r>
              <a:rPr sz="1600" spc="55" dirty="0">
                <a:solidFill>
                  <a:srgbClr val="D5D9D6"/>
                </a:solidFill>
                <a:latin typeface="Tahoma"/>
                <a:cs typeface="Tahoma"/>
              </a:rPr>
              <a:t>driven</a:t>
            </a:r>
            <a:r>
              <a:rPr sz="1600" spc="-1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600" spc="35" dirty="0">
                <a:solidFill>
                  <a:srgbClr val="D5D9D6"/>
                </a:solidFill>
                <a:latin typeface="Tahoma"/>
                <a:cs typeface="Tahoma"/>
              </a:rPr>
              <a:t>programming</a:t>
            </a:r>
            <a:endParaRPr sz="16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1215"/>
              </a:spcBef>
              <a:buChar char="•"/>
              <a:tabLst>
                <a:tab pos="354965" algn="l"/>
              </a:tabLst>
            </a:pPr>
            <a:r>
              <a:rPr sz="1600" spc="100" dirty="0">
                <a:solidFill>
                  <a:srgbClr val="D5D9D6"/>
                </a:solidFill>
                <a:latin typeface="Tahoma"/>
                <a:cs typeface="Tahoma"/>
              </a:rPr>
              <a:t>User-</a:t>
            </a:r>
            <a:r>
              <a:rPr sz="1600" spc="55" dirty="0">
                <a:solidFill>
                  <a:srgbClr val="D5D9D6"/>
                </a:solidFill>
                <a:latin typeface="Tahoma"/>
                <a:cs typeface="Tahoma"/>
              </a:rPr>
              <a:t>friendly</a:t>
            </a:r>
            <a:r>
              <a:rPr sz="1600" spc="-1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600" spc="35" dirty="0">
                <a:solidFill>
                  <a:srgbClr val="D5D9D6"/>
                </a:solidFill>
                <a:latin typeface="Tahoma"/>
                <a:cs typeface="Tahoma"/>
              </a:rPr>
              <a:t>interaction</a:t>
            </a:r>
            <a:endParaRPr sz="16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1220"/>
              </a:spcBef>
              <a:buChar char="•"/>
              <a:tabLst>
                <a:tab pos="354965" algn="l"/>
              </a:tabLst>
            </a:pPr>
            <a:r>
              <a:rPr sz="1600" spc="75" dirty="0">
                <a:solidFill>
                  <a:srgbClr val="D5D9D6"/>
                </a:solidFill>
                <a:latin typeface="Tahoma"/>
                <a:cs typeface="Tahoma"/>
              </a:rPr>
              <a:t>Responsive</a:t>
            </a:r>
            <a:r>
              <a:rPr sz="1600" spc="10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D5D9D6"/>
                </a:solidFill>
                <a:latin typeface="Tahoma"/>
                <a:cs typeface="Tahoma"/>
              </a:rPr>
              <a:t>button</a:t>
            </a:r>
            <a:r>
              <a:rPr sz="1600" spc="6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600" spc="55" dirty="0">
                <a:solidFill>
                  <a:srgbClr val="D5D9D6"/>
                </a:solidFill>
                <a:latin typeface="Tahoma"/>
                <a:cs typeface="Tahoma"/>
              </a:rPr>
              <a:t>actions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2817602" y="7743749"/>
            <a:ext cx="1696720" cy="349250"/>
            <a:chOff x="12817602" y="7743749"/>
            <a:chExt cx="1696720" cy="349250"/>
          </a:xfrm>
        </p:grpSpPr>
        <p:sp>
          <p:nvSpPr>
            <p:cNvPr id="8" name="object 8">
              <a:hlinkClick r:id="rId2"/>
            </p:cNvPr>
            <p:cNvSpPr/>
            <p:nvPr/>
          </p:nvSpPr>
          <p:spPr>
            <a:xfrm>
              <a:off x="12823952" y="7750099"/>
              <a:ext cx="1684020" cy="336550"/>
            </a:xfrm>
            <a:custGeom>
              <a:avLst/>
              <a:gdLst/>
              <a:ahLst/>
              <a:cxnLst/>
              <a:rect l="l" t="t" r="r" b="b"/>
              <a:pathLst>
                <a:path w="1684019" h="336550">
                  <a:moveTo>
                    <a:pt x="1683892" y="0"/>
                  </a:moveTo>
                  <a:lnTo>
                    <a:pt x="0" y="0"/>
                  </a:lnTo>
                  <a:lnTo>
                    <a:pt x="0" y="336346"/>
                  </a:lnTo>
                  <a:lnTo>
                    <a:pt x="1683892" y="336346"/>
                  </a:lnTo>
                  <a:lnTo>
                    <a:pt x="1683892" y="0"/>
                  </a:lnTo>
                  <a:close/>
                </a:path>
              </a:pathLst>
            </a:custGeom>
            <a:solidFill>
              <a:srgbClr val="2C30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hlinkClick r:id="rId2"/>
            </p:cNvPr>
            <p:cNvSpPr/>
            <p:nvPr/>
          </p:nvSpPr>
          <p:spPr>
            <a:xfrm>
              <a:off x="12823952" y="7750099"/>
              <a:ext cx="1684020" cy="336550"/>
            </a:xfrm>
            <a:custGeom>
              <a:avLst/>
              <a:gdLst/>
              <a:ahLst/>
              <a:cxnLst/>
              <a:rect l="l" t="t" r="r" b="b"/>
              <a:pathLst>
                <a:path w="1684019" h="336550">
                  <a:moveTo>
                    <a:pt x="0" y="336346"/>
                  </a:moveTo>
                  <a:lnTo>
                    <a:pt x="1683892" y="336346"/>
                  </a:lnTo>
                  <a:lnTo>
                    <a:pt x="1683892" y="0"/>
                  </a:lnTo>
                  <a:lnTo>
                    <a:pt x="0" y="0"/>
                  </a:lnTo>
                  <a:lnTo>
                    <a:pt x="0" y="336346"/>
                  </a:lnTo>
                  <a:close/>
                </a:path>
              </a:pathLst>
            </a:custGeom>
            <a:ln w="12699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2B499B32-8F5B-BD76-A5D1-C0C9DC44B6C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70" y="3971446"/>
            <a:ext cx="533400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817602" y="7743749"/>
            <a:ext cx="1744345" cy="417830"/>
            <a:chOff x="12817602" y="7743749"/>
            <a:chExt cx="1744345" cy="417830"/>
          </a:xfrm>
        </p:grpSpPr>
        <p:sp>
          <p:nvSpPr>
            <p:cNvPr id="3" name="object 3">
              <a:hlinkClick r:id="rId2"/>
            </p:cNvPr>
            <p:cNvSpPr/>
            <p:nvPr/>
          </p:nvSpPr>
          <p:spPr>
            <a:xfrm>
              <a:off x="12823952" y="7750099"/>
              <a:ext cx="1684020" cy="336550"/>
            </a:xfrm>
            <a:custGeom>
              <a:avLst/>
              <a:gdLst/>
              <a:ahLst/>
              <a:cxnLst/>
              <a:rect l="l" t="t" r="r" b="b"/>
              <a:pathLst>
                <a:path w="1684019" h="336550">
                  <a:moveTo>
                    <a:pt x="1683892" y="0"/>
                  </a:moveTo>
                  <a:lnTo>
                    <a:pt x="0" y="0"/>
                  </a:lnTo>
                  <a:lnTo>
                    <a:pt x="0" y="336346"/>
                  </a:lnTo>
                  <a:lnTo>
                    <a:pt x="1683892" y="336346"/>
                  </a:lnTo>
                  <a:lnTo>
                    <a:pt x="1683892" y="0"/>
                  </a:lnTo>
                  <a:close/>
                </a:path>
              </a:pathLst>
            </a:custGeom>
            <a:solidFill>
              <a:srgbClr val="2C30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hlinkClick r:id="rId2"/>
            </p:cNvPr>
            <p:cNvSpPr/>
            <p:nvPr/>
          </p:nvSpPr>
          <p:spPr>
            <a:xfrm>
              <a:off x="12823952" y="7750099"/>
              <a:ext cx="1684020" cy="336550"/>
            </a:xfrm>
            <a:custGeom>
              <a:avLst/>
              <a:gdLst/>
              <a:ahLst/>
              <a:cxnLst/>
              <a:rect l="l" t="t" r="r" b="b"/>
              <a:pathLst>
                <a:path w="1684019" h="336550">
                  <a:moveTo>
                    <a:pt x="0" y="336346"/>
                  </a:moveTo>
                  <a:lnTo>
                    <a:pt x="1683892" y="336346"/>
                  </a:lnTo>
                  <a:lnTo>
                    <a:pt x="1683892" y="0"/>
                  </a:lnTo>
                  <a:lnTo>
                    <a:pt x="0" y="0"/>
                  </a:lnTo>
                  <a:lnTo>
                    <a:pt x="0" y="336346"/>
                  </a:lnTo>
                  <a:close/>
                </a:path>
              </a:pathLst>
            </a:custGeom>
            <a:ln w="12699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81304" y="933450"/>
            <a:ext cx="562800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5" dirty="0"/>
              <a:t>Application</a:t>
            </a:r>
            <a:r>
              <a:rPr spc="-50" dirty="0"/>
              <a:t> </a:t>
            </a:r>
            <a:r>
              <a:rPr spc="100" dirty="0"/>
              <a:t>Workflow</a:t>
            </a:r>
          </a:p>
        </p:txBody>
      </p:sp>
      <p:sp>
        <p:nvSpPr>
          <p:cNvPr id="6" name="object 6"/>
          <p:cNvSpPr/>
          <p:nvPr/>
        </p:nvSpPr>
        <p:spPr>
          <a:xfrm>
            <a:off x="793788" y="2495169"/>
            <a:ext cx="6408420" cy="30480"/>
          </a:xfrm>
          <a:custGeom>
            <a:avLst/>
            <a:gdLst/>
            <a:ahLst/>
            <a:cxnLst/>
            <a:rect l="l" t="t" r="r" b="b"/>
            <a:pathLst>
              <a:path w="6408420" h="30480">
                <a:moveTo>
                  <a:pt x="6407912" y="0"/>
                </a:moveTo>
                <a:lnTo>
                  <a:pt x="0" y="0"/>
                </a:lnTo>
                <a:lnTo>
                  <a:pt x="0" y="30479"/>
                </a:lnTo>
                <a:lnTo>
                  <a:pt x="6407912" y="30479"/>
                </a:lnTo>
                <a:lnTo>
                  <a:pt x="6407912" y="0"/>
                </a:lnTo>
                <a:close/>
              </a:path>
            </a:pathLst>
          </a:custGeom>
          <a:solidFill>
            <a:srgbClr val="AC9E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416545" y="2181224"/>
            <a:ext cx="25146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25" dirty="0">
                <a:solidFill>
                  <a:srgbClr val="D5D9D6"/>
                </a:solidFill>
                <a:latin typeface="Calibri"/>
                <a:cs typeface="Calibri"/>
              </a:rPr>
              <a:t>02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28483" y="2495169"/>
            <a:ext cx="6408420" cy="30480"/>
          </a:xfrm>
          <a:custGeom>
            <a:avLst/>
            <a:gdLst/>
            <a:ahLst/>
            <a:cxnLst/>
            <a:rect l="l" t="t" r="r" b="b"/>
            <a:pathLst>
              <a:path w="6408419" h="30480">
                <a:moveTo>
                  <a:pt x="6408039" y="0"/>
                </a:moveTo>
                <a:lnTo>
                  <a:pt x="0" y="0"/>
                </a:lnTo>
                <a:lnTo>
                  <a:pt x="0" y="30479"/>
                </a:lnTo>
                <a:lnTo>
                  <a:pt x="6408039" y="30479"/>
                </a:lnTo>
                <a:lnTo>
                  <a:pt x="6408039" y="0"/>
                </a:lnTo>
                <a:close/>
              </a:path>
            </a:pathLst>
          </a:custGeom>
          <a:solidFill>
            <a:srgbClr val="AC9E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416545" y="2645155"/>
            <a:ext cx="6162040" cy="8489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85" dirty="0">
                <a:solidFill>
                  <a:srgbClr val="D5D9D6"/>
                </a:solidFill>
                <a:latin typeface="Arial MT"/>
                <a:cs typeface="Arial MT"/>
              </a:rPr>
              <a:t>Add/Update</a:t>
            </a:r>
            <a:r>
              <a:rPr sz="2200" spc="-20" dirty="0">
                <a:solidFill>
                  <a:srgbClr val="D5D9D6"/>
                </a:solidFill>
                <a:latin typeface="Arial MT"/>
                <a:cs typeface="Arial MT"/>
              </a:rPr>
              <a:t> </a:t>
            </a:r>
            <a:r>
              <a:rPr sz="2200" spc="85" dirty="0">
                <a:solidFill>
                  <a:srgbClr val="D5D9D6"/>
                </a:solidFill>
                <a:latin typeface="Arial MT"/>
                <a:cs typeface="Arial MT"/>
              </a:rPr>
              <a:t>Contact</a:t>
            </a:r>
            <a:endParaRPr sz="2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sz="1750" dirty="0">
                <a:solidFill>
                  <a:srgbClr val="D5D9D6"/>
                </a:solidFill>
                <a:latin typeface="Tahoma"/>
                <a:cs typeface="Tahoma"/>
              </a:rPr>
              <a:t>Enter</a:t>
            </a:r>
            <a:r>
              <a:rPr sz="1750" spc="2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60" dirty="0">
                <a:solidFill>
                  <a:srgbClr val="D5D9D6"/>
                </a:solidFill>
                <a:latin typeface="Tahoma"/>
                <a:cs typeface="Tahoma"/>
              </a:rPr>
              <a:t>name</a:t>
            </a:r>
            <a:r>
              <a:rPr sz="1750" spc="4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D5D9D6"/>
                </a:solidFill>
                <a:latin typeface="Tahoma"/>
                <a:cs typeface="Tahoma"/>
              </a:rPr>
              <a:t>and</a:t>
            </a:r>
            <a:r>
              <a:rPr sz="1750" spc="3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D5D9D6"/>
                </a:solidFill>
                <a:latin typeface="Tahoma"/>
                <a:cs typeface="Tahoma"/>
              </a:rPr>
              <a:t>number;</a:t>
            </a:r>
            <a:r>
              <a:rPr sz="1750" spc="5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75" dirty="0">
                <a:solidFill>
                  <a:srgbClr val="D5D9D6"/>
                </a:solidFill>
                <a:latin typeface="Tahoma"/>
                <a:cs typeface="Tahoma"/>
              </a:rPr>
              <a:t>stored</a:t>
            </a:r>
            <a:r>
              <a:rPr sz="1750" spc="2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D5D9D6"/>
                </a:solidFill>
                <a:latin typeface="Tahoma"/>
                <a:cs typeface="Tahoma"/>
              </a:rPr>
              <a:t>in</a:t>
            </a:r>
            <a:r>
              <a:rPr sz="1750" spc="3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D5D9D6"/>
                </a:solidFill>
                <a:latin typeface="Tahoma"/>
                <a:cs typeface="Tahoma"/>
              </a:rPr>
              <a:t>Trie,</a:t>
            </a:r>
            <a:r>
              <a:rPr sz="1750" spc="4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85" dirty="0">
                <a:solidFill>
                  <a:srgbClr val="D5D9D6"/>
                </a:solidFill>
                <a:latin typeface="Tahoma"/>
                <a:cs typeface="Tahoma"/>
              </a:rPr>
              <a:t>HashMap,</a:t>
            </a:r>
            <a:r>
              <a:rPr sz="1750" spc="1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D5D9D6"/>
                </a:solidFill>
                <a:latin typeface="Tahoma"/>
                <a:cs typeface="Tahoma"/>
              </a:rPr>
              <a:t>and</a:t>
            </a:r>
            <a:r>
              <a:rPr sz="1750" spc="3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-10" dirty="0">
                <a:solidFill>
                  <a:srgbClr val="D5D9D6"/>
                </a:solidFill>
                <a:latin typeface="Tahoma"/>
                <a:cs typeface="Tahoma"/>
              </a:rPr>
              <a:t>file.</a:t>
            </a:r>
            <a:endParaRPr sz="175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93788" y="4274692"/>
            <a:ext cx="6408420" cy="30480"/>
          </a:xfrm>
          <a:custGeom>
            <a:avLst/>
            <a:gdLst/>
            <a:ahLst/>
            <a:cxnLst/>
            <a:rect l="l" t="t" r="r" b="b"/>
            <a:pathLst>
              <a:path w="6408420" h="30479">
                <a:moveTo>
                  <a:pt x="6407912" y="0"/>
                </a:moveTo>
                <a:lnTo>
                  <a:pt x="0" y="0"/>
                </a:lnTo>
                <a:lnTo>
                  <a:pt x="0" y="30479"/>
                </a:lnTo>
                <a:lnTo>
                  <a:pt x="6407912" y="30479"/>
                </a:lnTo>
                <a:lnTo>
                  <a:pt x="6407912" y="0"/>
                </a:lnTo>
                <a:close/>
              </a:path>
            </a:pathLst>
          </a:custGeom>
          <a:solidFill>
            <a:srgbClr val="AC9E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93788" y="6054216"/>
            <a:ext cx="6408420" cy="30480"/>
          </a:xfrm>
          <a:custGeom>
            <a:avLst/>
            <a:gdLst/>
            <a:ahLst/>
            <a:cxnLst/>
            <a:rect l="l" t="t" r="r" b="b"/>
            <a:pathLst>
              <a:path w="6408420" h="30479">
                <a:moveTo>
                  <a:pt x="6407912" y="0"/>
                </a:moveTo>
                <a:lnTo>
                  <a:pt x="0" y="0"/>
                </a:lnTo>
                <a:lnTo>
                  <a:pt x="0" y="30479"/>
                </a:lnTo>
                <a:lnTo>
                  <a:pt x="6407912" y="30479"/>
                </a:lnTo>
                <a:lnTo>
                  <a:pt x="6407912" y="0"/>
                </a:lnTo>
                <a:close/>
              </a:path>
            </a:pathLst>
          </a:custGeom>
          <a:solidFill>
            <a:srgbClr val="AC9E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70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pc="-25" dirty="0"/>
              <a:t>01</a:t>
            </a: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2200" dirty="0">
                <a:latin typeface="Arial MT"/>
                <a:cs typeface="Arial MT"/>
              </a:rPr>
              <a:t>Open</a:t>
            </a:r>
            <a:r>
              <a:rPr sz="2200" spc="13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GUI</a:t>
            </a:r>
            <a:endParaRPr sz="22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spc="100" dirty="0">
                <a:latin typeface="Tahoma"/>
                <a:cs typeface="Tahoma"/>
              </a:rPr>
              <a:t>User</a:t>
            </a:r>
            <a:r>
              <a:rPr spc="-30" dirty="0">
                <a:latin typeface="Tahoma"/>
                <a:cs typeface="Tahoma"/>
              </a:rPr>
              <a:t> </a:t>
            </a:r>
            <a:r>
              <a:rPr spc="80" dirty="0">
                <a:latin typeface="Tahoma"/>
                <a:cs typeface="Tahoma"/>
              </a:rPr>
              <a:t>launches</a:t>
            </a:r>
            <a:r>
              <a:rPr dirty="0">
                <a:latin typeface="Tahoma"/>
                <a:cs typeface="Tahoma"/>
              </a:rPr>
              <a:t> the</a:t>
            </a:r>
            <a:r>
              <a:rPr spc="-15" dirty="0">
                <a:latin typeface="Tahoma"/>
                <a:cs typeface="Tahoma"/>
              </a:rPr>
              <a:t> </a:t>
            </a:r>
            <a:r>
              <a:rPr spc="60" dirty="0">
                <a:latin typeface="Tahoma"/>
                <a:cs typeface="Tahoma"/>
              </a:rPr>
              <a:t>application</a:t>
            </a:r>
            <a:r>
              <a:rPr dirty="0">
                <a:latin typeface="Tahoma"/>
                <a:cs typeface="Tahoma"/>
              </a:rPr>
              <a:t> </a:t>
            </a:r>
            <a:r>
              <a:rPr spc="55" dirty="0">
                <a:latin typeface="Tahoma"/>
                <a:cs typeface="Tahoma"/>
              </a:rPr>
              <a:t>window.</a:t>
            </a:r>
          </a:p>
          <a:p>
            <a:pPr>
              <a:lnSpc>
                <a:spcPct val="100000"/>
              </a:lnSpc>
              <a:spcBef>
                <a:spcPts val="1770"/>
              </a:spcBef>
            </a:pPr>
            <a:endParaRPr spc="55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pc="-25" dirty="0"/>
              <a:t>03</a:t>
            </a: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2200" dirty="0">
                <a:latin typeface="Arial MT"/>
                <a:cs typeface="Arial MT"/>
              </a:rPr>
              <a:t>Search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125" dirty="0">
                <a:latin typeface="Arial MT"/>
                <a:cs typeface="Arial MT"/>
              </a:rPr>
              <a:t>by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Prefix</a:t>
            </a:r>
            <a:endParaRPr sz="22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dirty="0">
                <a:latin typeface="Tahoma"/>
                <a:cs typeface="Tahoma"/>
              </a:rPr>
              <a:t>Enter</a:t>
            </a:r>
            <a:r>
              <a:rPr spc="35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prefix;</a:t>
            </a:r>
            <a:r>
              <a:rPr spc="45" dirty="0">
                <a:latin typeface="Tahoma"/>
                <a:cs typeface="Tahoma"/>
              </a:rPr>
              <a:t> </a:t>
            </a:r>
            <a:r>
              <a:rPr spc="55" dirty="0">
                <a:latin typeface="Tahoma"/>
                <a:cs typeface="Tahoma"/>
              </a:rPr>
              <a:t>Trie</a:t>
            </a:r>
            <a:r>
              <a:rPr spc="50" dirty="0">
                <a:latin typeface="Tahoma"/>
                <a:cs typeface="Tahoma"/>
              </a:rPr>
              <a:t> </a:t>
            </a:r>
            <a:r>
              <a:rPr spc="65" dirty="0">
                <a:latin typeface="Tahoma"/>
                <a:cs typeface="Tahoma"/>
              </a:rPr>
              <a:t>retrieves</a:t>
            </a:r>
            <a:r>
              <a:rPr spc="60" dirty="0">
                <a:latin typeface="Tahoma"/>
                <a:cs typeface="Tahoma"/>
              </a:rPr>
              <a:t> </a:t>
            </a:r>
            <a:r>
              <a:rPr spc="55" dirty="0">
                <a:latin typeface="Tahoma"/>
                <a:cs typeface="Tahoma"/>
              </a:rPr>
              <a:t>matching </a:t>
            </a:r>
            <a:r>
              <a:rPr spc="85" dirty="0">
                <a:latin typeface="Tahoma"/>
                <a:cs typeface="Tahoma"/>
              </a:rPr>
              <a:t>contacts</a:t>
            </a:r>
            <a:r>
              <a:rPr spc="50" dirty="0">
                <a:latin typeface="Tahoma"/>
                <a:cs typeface="Tahoma"/>
              </a:rPr>
              <a:t> </a:t>
            </a:r>
            <a:r>
              <a:rPr spc="-10" dirty="0">
                <a:latin typeface="Tahoma"/>
                <a:cs typeface="Tahoma"/>
              </a:rPr>
              <a:t>instantly.</a:t>
            </a:r>
          </a:p>
          <a:p>
            <a:pPr>
              <a:lnSpc>
                <a:spcPct val="100000"/>
              </a:lnSpc>
              <a:spcBef>
                <a:spcPts val="1770"/>
              </a:spcBef>
            </a:pPr>
            <a:endParaRPr spc="-1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0</a:t>
            </a:r>
            <a:r>
              <a:rPr lang="en-IN" spc="-25" dirty="0"/>
              <a:t>6</a:t>
            </a:r>
            <a:endParaRPr spc="-25" dirty="0"/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2200" dirty="0">
                <a:latin typeface="Arial MT"/>
                <a:cs typeface="Arial MT"/>
              </a:rPr>
              <a:t>Delete</a:t>
            </a:r>
            <a:r>
              <a:rPr sz="2200" spc="190" dirty="0">
                <a:latin typeface="Arial MT"/>
                <a:cs typeface="Arial MT"/>
              </a:rPr>
              <a:t> </a:t>
            </a:r>
            <a:r>
              <a:rPr sz="2200" spc="90" dirty="0">
                <a:latin typeface="Arial MT"/>
                <a:cs typeface="Arial MT"/>
              </a:rPr>
              <a:t>Contact</a:t>
            </a:r>
            <a:endParaRPr sz="22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spc="80" dirty="0">
                <a:latin typeface="Tahoma"/>
                <a:cs typeface="Tahoma"/>
              </a:rPr>
              <a:t>Remove</a:t>
            </a:r>
            <a:r>
              <a:rPr spc="-15" dirty="0">
                <a:latin typeface="Tahoma"/>
                <a:cs typeface="Tahoma"/>
              </a:rPr>
              <a:t> </a:t>
            </a:r>
            <a:r>
              <a:rPr spc="65" dirty="0">
                <a:latin typeface="Tahoma"/>
                <a:cs typeface="Tahoma"/>
              </a:rPr>
              <a:t>from</a:t>
            </a:r>
            <a:r>
              <a:rPr spc="-10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Trie,</a:t>
            </a:r>
            <a:r>
              <a:rPr spc="-10" dirty="0">
                <a:latin typeface="Tahoma"/>
                <a:cs typeface="Tahoma"/>
              </a:rPr>
              <a:t> </a:t>
            </a:r>
            <a:r>
              <a:rPr spc="90" dirty="0">
                <a:latin typeface="Tahoma"/>
                <a:cs typeface="Tahoma"/>
              </a:rPr>
              <a:t>HashMap,</a:t>
            </a:r>
            <a:r>
              <a:rPr spc="-30" dirty="0">
                <a:latin typeface="Tahoma"/>
                <a:cs typeface="Tahoma"/>
              </a:rPr>
              <a:t> </a:t>
            </a:r>
            <a:r>
              <a:rPr spc="70" dirty="0">
                <a:latin typeface="Tahoma"/>
                <a:cs typeface="Tahoma"/>
              </a:rPr>
              <a:t>and</a:t>
            </a:r>
            <a:r>
              <a:rPr spc="-15" dirty="0">
                <a:latin typeface="Tahoma"/>
                <a:cs typeface="Tahoma"/>
              </a:rPr>
              <a:t> </a:t>
            </a:r>
            <a:r>
              <a:rPr spc="55" dirty="0">
                <a:latin typeface="Tahoma"/>
                <a:cs typeface="Tahoma"/>
              </a:rPr>
              <a:t>contacts.txt</a:t>
            </a:r>
            <a:r>
              <a:rPr spc="-10" dirty="0">
                <a:latin typeface="Tahoma"/>
                <a:cs typeface="Tahoma"/>
              </a:rPr>
              <a:t> file.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413001" y="3939668"/>
            <a:ext cx="251460" cy="292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25" dirty="0">
                <a:solidFill>
                  <a:srgbClr val="D5D9D6"/>
                </a:solidFill>
                <a:latin typeface="Calibri"/>
                <a:cs typeface="Calibri"/>
              </a:rPr>
              <a:t>0</a:t>
            </a:r>
            <a:r>
              <a:rPr lang="en-IN" sz="1750" spc="-25" dirty="0">
                <a:solidFill>
                  <a:srgbClr val="D5D9D6"/>
                </a:solidFill>
                <a:latin typeface="Calibri"/>
                <a:cs typeface="Calibri"/>
              </a:rPr>
              <a:t>5</a:t>
            </a:r>
            <a:endParaRPr sz="1750" dirty="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413001" y="4289932"/>
            <a:ext cx="6408420" cy="30480"/>
          </a:xfrm>
          <a:custGeom>
            <a:avLst/>
            <a:gdLst/>
            <a:ahLst/>
            <a:cxnLst/>
            <a:rect l="l" t="t" r="r" b="b"/>
            <a:pathLst>
              <a:path w="6408419" h="30479">
                <a:moveTo>
                  <a:pt x="6408039" y="0"/>
                </a:moveTo>
                <a:lnTo>
                  <a:pt x="0" y="0"/>
                </a:lnTo>
                <a:lnTo>
                  <a:pt x="0" y="30479"/>
                </a:lnTo>
                <a:lnTo>
                  <a:pt x="6408039" y="30479"/>
                </a:lnTo>
                <a:lnTo>
                  <a:pt x="6408039" y="0"/>
                </a:lnTo>
                <a:close/>
              </a:path>
            </a:pathLst>
          </a:custGeom>
          <a:solidFill>
            <a:srgbClr val="AC9E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411229" y="4438425"/>
            <a:ext cx="5255260" cy="848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D5D9D6"/>
                </a:solidFill>
                <a:latin typeface="Arial MT"/>
                <a:cs typeface="Arial MT"/>
              </a:rPr>
              <a:t>Data</a:t>
            </a:r>
            <a:r>
              <a:rPr sz="2200" spc="80" dirty="0">
                <a:solidFill>
                  <a:srgbClr val="D5D9D6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D5D9D6"/>
                </a:solidFill>
                <a:latin typeface="Arial MT"/>
                <a:cs typeface="Arial MT"/>
              </a:rPr>
              <a:t>Persists</a:t>
            </a:r>
            <a:endParaRPr sz="22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sz="1750" spc="60" dirty="0">
                <a:solidFill>
                  <a:srgbClr val="D5D9D6"/>
                </a:solidFill>
                <a:latin typeface="Tahoma"/>
                <a:cs typeface="Tahoma"/>
              </a:rPr>
              <a:t>All</a:t>
            </a:r>
            <a:r>
              <a:rPr sz="1750" spc="-1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95" dirty="0">
                <a:solidFill>
                  <a:srgbClr val="D5D9D6"/>
                </a:solidFill>
                <a:latin typeface="Tahoma"/>
                <a:cs typeface="Tahoma"/>
              </a:rPr>
              <a:t>changes</a:t>
            </a:r>
            <a:r>
              <a:rPr sz="1750" spc="1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D5D9D6"/>
                </a:solidFill>
                <a:latin typeface="Tahoma"/>
                <a:cs typeface="Tahoma"/>
              </a:rPr>
              <a:t>saved;</a:t>
            </a:r>
            <a:r>
              <a:rPr sz="1750" spc="-1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55" dirty="0">
                <a:solidFill>
                  <a:srgbClr val="D5D9D6"/>
                </a:solidFill>
                <a:latin typeface="Tahoma"/>
                <a:cs typeface="Tahoma"/>
              </a:rPr>
              <a:t>data</a:t>
            </a:r>
            <a:r>
              <a:rPr sz="1750" spc="-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D5D9D6"/>
                </a:solidFill>
                <a:latin typeface="Tahoma"/>
                <a:cs typeface="Tahoma"/>
              </a:rPr>
              <a:t>remains</a:t>
            </a:r>
            <a:r>
              <a:rPr sz="1750" spc="-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D5D9D6"/>
                </a:solidFill>
                <a:latin typeface="Tahoma"/>
                <a:cs typeface="Tahoma"/>
              </a:rPr>
              <a:t>after </a:t>
            </a:r>
            <a:r>
              <a:rPr sz="1750" spc="90" dirty="0">
                <a:solidFill>
                  <a:srgbClr val="D5D9D6"/>
                </a:solidFill>
                <a:latin typeface="Tahoma"/>
                <a:cs typeface="Tahoma"/>
              </a:rPr>
              <a:t>app</a:t>
            </a:r>
            <a:r>
              <a:rPr sz="1750" spc="-1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80" dirty="0">
                <a:solidFill>
                  <a:srgbClr val="D5D9D6"/>
                </a:solidFill>
                <a:latin typeface="Tahoma"/>
                <a:cs typeface="Tahoma"/>
              </a:rPr>
              <a:t>closes.</a:t>
            </a:r>
            <a:endParaRPr sz="1750" dirty="0">
              <a:latin typeface="Tahoma"/>
              <a:cs typeface="Tahoma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9251457-A8D6-429F-FB3B-233317B334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600"/>
            <a:ext cx="8382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5486399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67958" y="2677413"/>
            <a:ext cx="5954395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Sample</a:t>
            </a:r>
            <a:r>
              <a:rPr spc="40" dirty="0"/>
              <a:t> </a:t>
            </a:r>
            <a:r>
              <a:rPr dirty="0"/>
              <a:t>Data</a:t>
            </a:r>
            <a:r>
              <a:rPr spc="60" dirty="0"/>
              <a:t> </a:t>
            </a:r>
            <a:r>
              <a:rPr spc="295" dirty="0"/>
              <a:t>&amp;</a:t>
            </a:r>
            <a:r>
              <a:rPr spc="60" dirty="0"/>
              <a:t> </a:t>
            </a:r>
            <a:r>
              <a:rPr spc="-10" dirty="0"/>
              <a:t>Results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267958" y="3973195"/>
            <a:ext cx="2284730" cy="1308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95" dirty="0">
                <a:solidFill>
                  <a:srgbClr val="F7F7F8"/>
                </a:solidFill>
                <a:latin typeface="Arial MT"/>
                <a:cs typeface="Arial MT"/>
              </a:rPr>
              <a:t>Contact</a:t>
            </a:r>
            <a:r>
              <a:rPr sz="2200" dirty="0">
                <a:solidFill>
                  <a:srgbClr val="F7F7F8"/>
                </a:solidFill>
                <a:latin typeface="Arial MT"/>
                <a:cs typeface="Arial MT"/>
              </a:rPr>
              <a:t> </a:t>
            </a:r>
            <a:r>
              <a:rPr sz="2200" spc="75" dirty="0">
                <a:solidFill>
                  <a:srgbClr val="F7F7F8"/>
                </a:solidFill>
                <a:latin typeface="Arial MT"/>
                <a:cs typeface="Arial MT"/>
              </a:rPr>
              <a:t>Added</a:t>
            </a:r>
            <a:endParaRPr sz="2200" dirty="0">
              <a:latin typeface="Arial MT"/>
              <a:cs typeface="Arial MT"/>
            </a:endParaRPr>
          </a:p>
          <a:p>
            <a:pPr marL="12700" marR="5080">
              <a:lnSpc>
                <a:spcPct val="138300"/>
              </a:lnSpc>
              <a:spcBef>
                <a:spcPts val="1655"/>
              </a:spcBef>
            </a:pPr>
            <a:r>
              <a:rPr sz="1750" b="1" spc="-85" dirty="0">
                <a:solidFill>
                  <a:srgbClr val="D5D9D6"/>
                </a:solidFill>
                <a:latin typeface="Tahoma"/>
                <a:cs typeface="Tahoma"/>
              </a:rPr>
              <a:t>Name:</a:t>
            </a:r>
            <a:r>
              <a:rPr sz="1750" b="1" spc="-2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lang="en-IN" sz="1750" spc="55" dirty="0">
                <a:solidFill>
                  <a:srgbClr val="D5D9D6"/>
                </a:solidFill>
                <a:latin typeface="Tahoma"/>
                <a:cs typeface="Tahoma"/>
              </a:rPr>
              <a:t>Shivang</a:t>
            </a:r>
            <a:r>
              <a:rPr sz="1750" spc="5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b="1" spc="-70" dirty="0">
                <a:solidFill>
                  <a:srgbClr val="D5D9D6"/>
                </a:solidFill>
                <a:latin typeface="Tahoma"/>
                <a:cs typeface="Tahoma"/>
              </a:rPr>
              <a:t>Phone:</a:t>
            </a:r>
            <a:r>
              <a:rPr sz="1750" b="1" spc="-1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80" dirty="0">
                <a:solidFill>
                  <a:srgbClr val="D5D9D6"/>
                </a:solidFill>
                <a:latin typeface="Tahoma"/>
                <a:cs typeface="Tahoma"/>
              </a:rPr>
              <a:t>76778664677</a:t>
            </a:r>
            <a:endParaRPr sz="175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330942" y="3973195"/>
            <a:ext cx="3107690" cy="1308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F7F7F8"/>
                </a:solidFill>
                <a:latin typeface="Arial MT"/>
                <a:cs typeface="Arial MT"/>
              </a:rPr>
              <a:t>Search</a:t>
            </a:r>
            <a:r>
              <a:rPr sz="2200" spc="20" dirty="0">
                <a:solidFill>
                  <a:srgbClr val="F7F7F8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F7F7F8"/>
                </a:solidFill>
                <a:latin typeface="Arial MT"/>
                <a:cs typeface="Arial MT"/>
              </a:rPr>
              <a:t>Result</a:t>
            </a:r>
            <a:endParaRPr sz="2200" dirty="0">
              <a:latin typeface="Arial MT"/>
              <a:cs typeface="Arial MT"/>
            </a:endParaRPr>
          </a:p>
          <a:p>
            <a:pPr marL="12700" marR="5080">
              <a:lnSpc>
                <a:spcPct val="138300"/>
              </a:lnSpc>
              <a:spcBef>
                <a:spcPts val="1655"/>
              </a:spcBef>
            </a:pPr>
            <a:r>
              <a:rPr lang="en-IN" sz="1750" spc="65" dirty="0">
                <a:solidFill>
                  <a:srgbClr val="D5D9D6"/>
                </a:solidFill>
                <a:latin typeface="Tahoma"/>
                <a:cs typeface="Tahoma"/>
              </a:rPr>
              <a:t>Shivang</a:t>
            </a:r>
            <a:r>
              <a:rPr sz="1750" spc="-5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165" dirty="0">
                <a:solidFill>
                  <a:srgbClr val="D5D9D6"/>
                </a:solidFill>
                <a:latin typeface="Tahoma"/>
                <a:cs typeface="Tahoma"/>
              </a:rPr>
              <a:t>-</a:t>
            </a:r>
            <a:r>
              <a:rPr sz="1750" spc="-5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80" dirty="0">
                <a:solidFill>
                  <a:srgbClr val="D5D9D6"/>
                </a:solidFill>
                <a:latin typeface="Tahoma"/>
                <a:cs typeface="Tahoma"/>
              </a:rPr>
              <a:t>76778664677 </a:t>
            </a:r>
            <a:r>
              <a:rPr sz="1750" spc="75" dirty="0">
                <a:solidFill>
                  <a:srgbClr val="D5D9D6"/>
                </a:solidFill>
                <a:latin typeface="Tahoma"/>
                <a:cs typeface="Tahoma"/>
              </a:rPr>
              <a:t>displayed</a:t>
            </a:r>
            <a:r>
              <a:rPr sz="1750" spc="6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D5D9D6"/>
                </a:solidFill>
                <a:latin typeface="Tahoma"/>
                <a:cs typeface="Tahoma"/>
              </a:rPr>
              <a:t>after</a:t>
            </a:r>
            <a:r>
              <a:rPr sz="1750" spc="4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D5D9D6"/>
                </a:solidFill>
                <a:latin typeface="Tahoma"/>
                <a:cs typeface="Tahoma"/>
              </a:rPr>
              <a:t>prefix</a:t>
            </a:r>
            <a:r>
              <a:rPr sz="1750" spc="5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60" dirty="0">
                <a:solidFill>
                  <a:srgbClr val="D5D9D6"/>
                </a:solidFill>
                <a:latin typeface="Tahoma"/>
                <a:cs typeface="Tahoma"/>
              </a:rPr>
              <a:t>search.</a:t>
            </a:r>
            <a:endParaRPr sz="1750" dirty="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2817602" y="7743749"/>
            <a:ext cx="1696720" cy="349250"/>
            <a:chOff x="12817602" y="7743749"/>
            <a:chExt cx="1696720" cy="349250"/>
          </a:xfrm>
        </p:grpSpPr>
        <p:sp>
          <p:nvSpPr>
            <p:cNvPr id="7" name="object 7">
              <a:hlinkClick r:id="rId3"/>
            </p:cNvPr>
            <p:cNvSpPr/>
            <p:nvPr/>
          </p:nvSpPr>
          <p:spPr>
            <a:xfrm>
              <a:off x="12823952" y="7750099"/>
              <a:ext cx="1684020" cy="336550"/>
            </a:xfrm>
            <a:custGeom>
              <a:avLst/>
              <a:gdLst/>
              <a:ahLst/>
              <a:cxnLst/>
              <a:rect l="l" t="t" r="r" b="b"/>
              <a:pathLst>
                <a:path w="1684019" h="336550">
                  <a:moveTo>
                    <a:pt x="1683892" y="0"/>
                  </a:moveTo>
                  <a:lnTo>
                    <a:pt x="0" y="0"/>
                  </a:lnTo>
                  <a:lnTo>
                    <a:pt x="0" y="336346"/>
                  </a:lnTo>
                  <a:lnTo>
                    <a:pt x="1683892" y="336346"/>
                  </a:lnTo>
                  <a:lnTo>
                    <a:pt x="1683892" y="0"/>
                  </a:lnTo>
                  <a:close/>
                </a:path>
              </a:pathLst>
            </a:custGeom>
            <a:solidFill>
              <a:srgbClr val="2C30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hlinkClick r:id="rId3"/>
            </p:cNvPr>
            <p:cNvSpPr/>
            <p:nvPr/>
          </p:nvSpPr>
          <p:spPr>
            <a:xfrm>
              <a:off x="12823952" y="7750099"/>
              <a:ext cx="1684020" cy="336550"/>
            </a:xfrm>
            <a:custGeom>
              <a:avLst/>
              <a:gdLst/>
              <a:ahLst/>
              <a:cxnLst/>
              <a:rect l="l" t="t" r="r" b="b"/>
              <a:pathLst>
                <a:path w="1684019" h="336550">
                  <a:moveTo>
                    <a:pt x="0" y="336346"/>
                  </a:moveTo>
                  <a:lnTo>
                    <a:pt x="1683892" y="336346"/>
                  </a:lnTo>
                  <a:lnTo>
                    <a:pt x="1683892" y="0"/>
                  </a:lnTo>
                  <a:lnTo>
                    <a:pt x="0" y="0"/>
                  </a:lnTo>
                  <a:lnTo>
                    <a:pt x="0" y="336346"/>
                  </a:lnTo>
                  <a:close/>
                </a:path>
              </a:pathLst>
            </a:custGeom>
            <a:ln w="12699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BF13F3E1-5A88-AC36-C1FC-21792407FC7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228600"/>
            <a:ext cx="8382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817602" y="7743749"/>
            <a:ext cx="1744345" cy="417830"/>
            <a:chOff x="12817602" y="7743749"/>
            <a:chExt cx="1744345" cy="417830"/>
          </a:xfrm>
        </p:grpSpPr>
        <p:sp>
          <p:nvSpPr>
            <p:cNvPr id="3" name="object 3">
              <a:hlinkClick r:id="rId2"/>
            </p:cNvPr>
            <p:cNvSpPr/>
            <p:nvPr/>
          </p:nvSpPr>
          <p:spPr>
            <a:xfrm>
              <a:off x="12823952" y="7750099"/>
              <a:ext cx="1684020" cy="336550"/>
            </a:xfrm>
            <a:custGeom>
              <a:avLst/>
              <a:gdLst/>
              <a:ahLst/>
              <a:cxnLst/>
              <a:rect l="l" t="t" r="r" b="b"/>
              <a:pathLst>
                <a:path w="1684019" h="336550">
                  <a:moveTo>
                    <a:pt x="1683892" y="0"/>
                  </a:moveTo>
                  <a:lnTo>
                    <a:pt x="0" y="0"/>
                  </a:lnTo>
                  <a:lnTo>
                    <a:pt x="0" y="336346"/>
                  </a:lnTo>
                  <a:lnTo>
                    <a:pt x="1683892" y="336346"/>
                  </a:lnTo>
                  <a:lnTo>
                    <a:pt x="1683892" y="0"/>
                  </a:lnTo>
                  <a:close/>
                </a:path>
              </a:pathLst>
            </a:custGeom>
            <a:solidFill>
              <a:srgbClr val="2C30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hlinkClick r:id="rId2"/>
            </p:cNvPr>
            <p:cNvSpPr/>
            <p:nvPr/>
          </p:nvSpPr>
          <p:spPr>
            <a:xfrm>
              <a:off x="12823952" y="7750099"/>
              <a:ext cx="1684020" cy="336550"/>
            </a:xfrm>
            <a:custGeom>
              <a:avLst/>
              <a:gdLst/>
              <a:ahLst/>
              <a:cxnLst/>
              <a:rect l="l" t="t" r="r" b="b"/>
              <a:pathLst>
                <a:path w="1684019" h="336550">
                  <a:moveTo>
                    <a:pt x="0" y="336346"/>
                  </a:moveTo>
                  <a:lnTo>
                    <a:pt x="1683892" y="336346"/>
                  </a:lnTo>
                  <a:lnTo>
                    <a:pt x="1683892" y="0"/>
                  </a:lnTo>
                  <a:lnTo>
                    <a:pt x="0" y="0"/>
                  </a:lnTo>
                  <a:lnTo>
                    <a:pt x="0" y="336346"/>
                  </a:lnTo>
                  <a:close/>
                </a:path>
              </a:pathLst>
            </a:custGeom>
            <a:ln w="12699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81304" y="1716786"/>
            <a:ext cx="516382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Learning</a:t>
            </a:r>
            <a:r>
              <a:rPr spc="114" dirty="0"/>
              <a:t> </a:t>
            </a:r>
            <a:r>
              <a:rPr spc="140" dirty="0"/>
              <a:t>Outcomes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78548" y="2908045"/>
            <a:ext cx="4227195" cy="3576320"/>
            <a:chOff x="778548" y="2908045"/>
            <a:chExt cx="4227195" cy="3576320"/>
          </a:xfrm>
        </p:grpSpPr>
        <p:sp>
          <p:nvSpPr>
            <p:cNvPr id="7" name="object 7"/>
            <p:cNvSpPr/>
            <p:nvPr/>
          </p:nvSpPr>
          <p:spPr>
            <a:xfrm>
              <a:off x="793788" y="2923285"/>
              <a:ext cx="4196715" cy="3545840"/>
            </a:xfrm>
            <a:custGeom>
              <a:avLst/>
              <a:gdLst/>
              <a:ahLst/>
              <a:cxnLst/>
              <a:rect l="l" t="t" r="r" b="b"/>
              <a:pathLst>
                <a:path w="4196715" h="3545840">
                  <a:moveTo>
                    <a:pt x="4162386" y="0"/>
                  </a:moveTo>
                  <a:lnTo>
                    <a:pt x="34036" y="0"/>
                  </a:lnTo>
                  <a:lnTo>
                    <a:pt x="20788" y="2674"/>
                  </a:lnTo>
                  <a:lnTo>
                    <a:pt x="9969" y="9969"/>
                  </a:lnTo>
                  <a:lnTo>
                    <a:pt x="2674" y="20788"/>
                  </a:lnTo>
                  <a:lnTo>
                    <a:pt x="0" y="34036"/>
                  </a:lnTo>
                  <a:lnTo>
                    <a:pt x="0" y="3511296"/>
                  </a:lnTo>
                  <a:lnTo>
                    <a:pt x="2674" y="3524543"/>
                  </a:lnTo>
                  <a:lnTo>
                    <a:pt x="9969" y="3535362"/>
                  </a:lnTo>
                  <a:lnTo>
                    <a:pt x="20788" y="3542657"/>
                  </a:lnTo>
                  <a:lnTo>
                    <a:pt x="34036" y="3545331"/>
                  </a:lnTo>
                  <a:lnTo>
                    <a:pt x="4162386" y="3545331"/>
                  </a:lnTo>
                  <a:lnTo>
                    <a:pt x="4175634" y="3542657"/>
                  </a:lnTo>
                  <a:lnTo>
                    <a:pt x="4186453" y="3535362"/>
                  </a:lnTo>
                  <a:lnTo>
                    <a:pt x="4193747" y="3524543"/>
                  </a:lnTo>
                  <a:lnTo>
                    <a:pt x="4196422" y="3511296"/>
                  </a:lnTo>
                  <a:lnTo>
                    <a:pt x="4196422" y="34036"/>
                  </a:lnTo>
                  <a:lnTo>
                    <a:pt x="4193747" y="20788"/>
                  </a:lnTo>
                  <a:lnTo>
                    <a:pt x="4186453" y="9969"/>
                  </a:lnTo>
                  <a:lnTo>
                    <a:pt x="4175634" y="2674"/>
                  </a:lnTo>
                  <a:lnTo>
                    <a:pt x="4162386" y="0"/>
                  </a:lnTo>
                  <a:close/>
                </a:path>
              </a:pathLst>
            </a:custGeom>
            <a:solidFill>
              <a:srgbClr val="2C30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93788" y="2923285"/>
              <a:ext cx="4196715" cy="3545840"/>
            </a:xfrm>
            <a:custGeom>
              <a:avLst/>
              <a:gdLst/>
              <a:ahLst/>
              <a:cxnLst/>
              <a:rect l="l" t="t" r="r" b="b"/>
              <a:pathLst>
                <a:path w="4196715" h="3545840">
                  <a:moveTo>
                    <a:pt x="0" y="34036"/>
                  </a:moveTo>
                  <a:lnTo>
                    <a:pt x="2674" y="20788"/>
                  </a:lnTo>
                  <a:lnTo>
                    <a:pt x="9969" y="9969"/>
                  </a:lnTo>
                  <a:lnTo>
                    <a:pt x="20788" y="2674"/>
                  </a:lnTo>
                  <a:lnTo>
                    <a:pt x="34036" y="0"/>
                  </a:lnTo>
                  <a:lnTo>
                    <a:pt x="4162386" y="0"/>
                  </a:lnTo>
                  <a:lnTo>
                    <a:pt x="4175634" y="2674"/>
                  </a:lnTo>
                  <a:lnTo>
                    <a:pt x="4186453" y="9969"/>
                  </a:lnTo>
                  <a:lnTo>
                    <a:pt x="4193747" y="20788"/>
                  </a:lnTo>
                  <a:lnTo>
                    <a:pt x="4196422" y="34036"/>
                  </a:lnTo>
                  <a:lnTo>
                    <a:pt x="4196422" y="3511296"/>
                  </a:lnTo>
                  <a:lnTo>
                    <a:pt x="4193747" y="3524543"/>
                  </a:lnTo>
                  <a:lnTo>
                    <a:pt x="4186453" y="3535362"/>
                  </a:lnTo>
                  <a:lnTo>
                    <a:pt x="4175634" y="3542657"/>
                  </a:lnTo>
                  <a:lnTo>
                    <a:pt x="4162386" y="3545331"/>
                  </a:lnTo>
                  <a:lnTo>
                    <a:pt x="34036" y="3545331"/>
                  </a:lnTo>
                  <a:lnTo>
                    <a:pt x="20788" y="3542657"/>
                  </a:lnTo>
                  <a:lnTo>
                    <a:pt x="9969" y="3535362"/>
                  </a:lnTo>
                  <a:lnTo>
                    <a:pt x="2674" y="3524543"/>
                  </a:lnTo>
                  <a:lnTo>
                    <a:pt x="0" y="3511296"/>
                  </a:lnTo>
                  <a:lnTo>
                    <a:pt x="0" y="34036"/>
                  </a:lnTo>
                  <a:close/>
                </a:path>
              </a:pathLst>
            </a:custGeom>
            <a:ln w="30480">
              <a:solidFill>
                <a:srgbClr val="64696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038555" y="3156330"/>
            <a:ext cx="3642360" cy="30587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80" dirty="0">
                <a:solidFill>
                  <a:srgbClr val="D5D9D6"/>
                </a:solidFill>
                <a:latin typeface="Arial MT"/>
                <a:cs typeface="Arial MT"/>
              </a:rPr>
              <a:t>DSA</a:t>
            </a:r>
            <a:r>
              <a:rPr sz="2200" spc="-60" dirty="0">
                <a:solidFill>
                  <a:srgbClr val="D5D9D6"/>
                </a:solidFill>
                <a:latin typeface="Arial MT"/>
                <a:cs typeface="Arial MT"/>
              </a:rPr>
              <a:t> </a:t>
            </a:r>
            <a:r>
              <a:rPr sz="2200" spc="45" dirty="0">
                <a:solidFill>
                  <a:srgbClr val="D5D9D6"/>
                </a:solidFill>
                <a:latin typeface="Arial MT"/>
                <a:cs typeface="Arial MT"/>
              </a:rPr>
              <a:t>Mastery</a:t>
            </a:r>
            <a:endParaRPr sz="2200">
              <a:latin typeface="Arial MT"/>
              <a:cs typeface="Arial MT"/>
            </a:endParaRPr>
          </a:p>
          <a:p>
            <a:pPr marL="12700" marR="5080">
              <a:lnSpc>
                <a:spcPct val="138300"/>
              </a:lnSpc>
              <a:spcBef>
                <a:spcPts val="940"/>
              </a:spcBef>
            </a:pPr>
            <a:r>
              <a:rPr sz="1750" spc="100" dirty="0">
                <a:solidFill>
                  <a:srgbClr val="D5D9D6"/>
                </a:solidFill>
                <a:latin typeface="Tahoma"/>
                <a:cs typeface="Tahoma"/>
              </a:rPr>
              <a:t>Hands-</a:t>
            </a:r>
            <a:r>
              <a:rPr sz="1750" spc="75" dirty="0">
                <a:solidFill>
                  <a:srgbClr val="D5D9D6"/>
                </a:solidFill>
                <a:latin typeface="Tahoma"/>
                <a:cs typeface="Tahoma"/>
              </a:rPr>
              <a:t>on</a:t>
            </a:r>
            <a:r>
              <a:rPr sz="1750" spc="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75" dirty="0">
                <a:solidFill>
                  <a:srgbClr val="D5D9D6"/>
                </a:solidFill>
                <a:latin typeface="Tahoma"/>
                <a:cs typeface="Tahoma"/>
              </a:rPr>
              <a:t>experience</a:t>
            </a:r>
            <a:r>
              <a:rPr sz="1750" spc="2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D5D9D6"/>
                </a:solidFill>
                <a:latin typeface="Tahoma"/>
                <a:cs typeface="Tahoma"/>
              </a:rPr>
              <a:t>with</a:t>
            </a:r>
            <a:r>
              <a:rPr sz="1750" spc="3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55" dirty="0">
                <a:solidFill>
                  <a:srgbClr val="D5D9D6"/>
                </a:solidFill>
                <a:latin typeface="Tahoma"/>
                <a:cs typeface="Tahoma"/>
              </a:rPr>
              <a:t>Trie</a:t>
            </a:r>
            <a:r>
              <a:rPr sz="1750" spc="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40" dirty="0">
                <a:solidFill>
                  <a:srgbClr val="D5D9D6"/>
                </a:solidFill>
                <a:latin typeface="Tahoma"/>
                <a:cs typeface="Tahoma"/>
              </a:rPr>
              <a:t>for </a:t>
            </a:r>
            <a:r>
              <a:rPr sz="1750" spc="65" dirty="0">
                <a:solidFill>
                  <a:srgbClr val="D5D9D6"/>
                </a:solidFill>
                <a:latin typeface="Tahoma"/>
                <a:cs typeface="Tahoma"/>
              </a:rPr>
              <a:t>prefix</a:t>
            </a:r>
            <a:r>
              <a:rPr sz="1750" spc="-3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90" dirty="0">
                <a:solidFill>
                  <a:srgbClr val="D5D9D6"/>
                </a:solidFill>
                <a:latin typeface="Tahoma"/>
                <a:cs typeface="Tahoma"/>
              </a:rPr>
              <a:t>search</a:t>
            </a:r>
            <a:r>
              <a:rPr sz="1750" spc="-3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D5D9D6"/>
                </a:solidFill>
                <a:latin typeface="Tahoma"/>
                <a:cs typeface="Tahoma"/>
              </a:rPr>
              <a:t>and</a:t>
            </a:r>
            <a:r>
              <a:rPr sz="1750" spc="-4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100" dirty="0">
                <a:solidFill>
                  <a:srgbClr val="D5D9D6"/>
                </a:solidFill>
                <a:latin typeface="Tahoma"/>
                <a:cs typeface="Tahoma"/>
              </a:rPr>
              <a:t>HashMap</a:t>
            </a:r>
            <a:r>
              <a:rPr sz="1750" spc="-4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40" dirty="0">
                <a:solidFill>
                  <a:srgbClr val="D5D9D6"/>
                </a:solidFill>
                <a:latin typeface="Tahoma"/>
                <a:cs typeface="Tahoma"/>
              </a:rPr>
              <a:t>for </a:t>
            </a:r>
            <a:r>
              <a:rPr sz="1750" spc="75" dirty="0">
                <a:solidFill>
                  <a:srgbClr val="D5D9D6"/>
                </a:solidFill>
                <a:latin typeface="Tahoma"/>
                <a:cs typeface="Tahoma"/>
              </a:rPr>
              <a:t>constant-</a:t>
            </a:r>
            <a:r>
              <a:rPr sz="1750" dirty="0">
                <a:solidFill>
                  <a:srgbClr val="D5D9D6"/>
                </a:solidFill>
                <a:latin typeface="Tahoma"/>
                <a:cs typeface="Tahoma"/>
              </a:rPr>
              <a:t>time</a:t>
            </a:r>
            <a:r>
              <a:rPr sz="1750" spc="12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45" dirty="0">
                <a:solidFill>
                  <a:srgbClr val="D5D9D6"/>
                </a:solidFill>
                <a:latin typeface="Tahoma"/>
                <a:cs typeface="Tahoma"/>
              </a:rPr>
              <a:t>operations.</a:t>
            </a:r>
            <a:endParaRPr sz="1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750" spc="90" dirty="0">
                <a:solidFill>
                  <a:srgbClr val="D5D9D6"/>
                </a:solidFill>
                <a:latin typeface="Tahoma"/>
                <a:cs typeface="Tahoma"/>
              </a:rPr>
              <a:t>Understood</a:t>
            </a:r>
            <a:r>
              <a:rPr sz="1750" spc="-4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60" dirty="0">
                <a:solidFill>
                  <a:srgbClr val="D5D9D6"/>
                </a:solidFill>
                <a:latin typeface="Tahoma"/>
                <a:cs typeface="Tahoma"/>
              </a:rPr>
              <a:t>importance</a:t>
            </a:r>
            <a:r>
              <a:rPr sz="1750" spc="-1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60" dirty="0">
                <a:solidFill>
                  <a:srgbClr val="D5D9D6"/>
                </a:solidFill>
                <a:latin typeface="Tahoma"/>
                <a:cs typeface="Tahoma"/>
              </a:rPr>
              <a:t>of</a:t>
            </a:r>
            <a:endParaRPr sz="1750">
              <a:latin typeface="Tahoma"/>
              <a:cs typeface="Tahoma"/>
            </a:endParaRPr>
          </a:p>
          <a:p>
            <a:pPr marL="12700" marR="866140">
              <a:lnSpc>
                <a:spcPct val="138000"/>
              </a:lnSpc>
              <a:spcBef>
                <a:spcPts val="5"/>
              </a:spcBef>
            </a:pPr>
            <a:r>
              <a:rPr sz="1750" spc="70" dirty="0">
                <a:solidFill>
                  <a:srgbClr val="D5D9D6"/>
                </a:solidFill>
                <a:latin typeface="Tahoma"/>
                <a:cs typeface="Tahoma"/>
              </a:rPr>
              <a:t>selecting</a:t>
            </a:r>
            <a:r>
              <a:rPr sz="1750" spc="-2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60" dirty="0">
                <a:solidFill>
                  <a:srgbClr val="D5D9D6"/>
                </a:solidFill>
                <a:latin typeface="Tahoma"/>
                <a:cs typeface="Tahoma"/>
              </a:rPr>
              <a:t>appropriate</a:t>
            </a:r>
            <a:r>
              <a:rPr sz="1750" spc="-1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35" dirty="0">
                <a:solidFill>
                  <a:srgbClr val="D5D9D6"/>
                </a:solidFill>
                <a:latin typeface="Tahoma"/>
                <a:cs typeface="Tahoma"/>
              </a:rPr>
              <a:t>data </a:t>
            </a:r>
            <a:r>
              <a:rPr sz="1750" spc="65" dirty="0">
                <a:solidFill>
                  <a:srgbClr val="D5D9D6"/>
                </a:solidFill>
                <a:latin typeface="Tahoma"/>
                <a:cs typeface="Tahoma"/>
              </a:rPr>
              <a:t>structures</a:t>
            </a:r>
            <a:r>
              <a:rPr sz="1750" spc="-1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D5D9D6"/>
                </a:solidFill>
                <a:latin typeface="Tahoma"/>
                <a:cs typeface="Tahoma"/>
              </a:rPr>
              <a:t>for</a:t>
            </a:r>
            <a:r>
              <a:rPr sz="1750" spc="-4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D5D9D6"/>
                </a:solidFill>
                <a:latin typeface="Tahoma"/>
                <a:cs typeface="Tahoma"/>
              </a:rPr>
              <a:t>real-</a:t>
            </a:r>
            <a:r>
              <a:rPr sz="1750" spc="60" dirty="0">
                <a:solidFill>
                  <a:srgbClr val="D5D9D6"/>
                </a:solidFill>
                <a:latin typeface="Tahoma"/>
                <a:cs typeface="Tahoma"/>
              </a:rPr>
              <a:t>world efficiency.</a:t>
            </a:r>
            <a:endParaRPr sz="175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201665" y="2908045"/>
            <a:ext cx="4227195" cy="3576320"/>
            <a:chOff x="5201665" y="2908045"/>
            <a:chExt cx="4227195" cy="3576320"/>
          </a:xfrm>
        </p:grpSpPr>
        <p:sp>
          <p:nvSpPr>
            <p:cNvPr id="11" name="object 11"/>
            <p:cNvSpPr/>
            <p:nvPr/>
          </p:nvSpPr>
          <p:spPr>
            <a:xfrm>
              <a:off x="5216905" y="2923285"/>
              <a:ext cx="4196715" cy="3545840"/>
            </a:xfrm>
            <a:custGeom>
              <a:avLst/>
              <a:gdLst/>
              <a:ahLst/>
              <a:cxnLst/>
              <a:rect l="l" t="t" r="r" b="b"/>
              <a:pathLst>
                <a:path w="4196715" h="3545840">
                  <a:moveTo>
                    <a:pt x="4162425" y="0"/>
                  </a:moveTo>
                  <a:lnTo>
                    <a:pt x="34036" y="0"/>
                  </a:lnTo>
                  <a:lnTo>
                    <a:pt x="20788" y="2674"/>
                  </a:lnTo>
                  <a:lnTo>
                    <a:pt x="9969" y="9969"/>
                  </a:lnTo>
                  <a:lnTo>
                    <a:pt x="2674" y="20788"/>
                  </a:lnTo>
                  <a:lnTo>
                    <a:pt x="0" y="34036"/>
                  </a:lnTo>
                  <a:lnTo>
                    <a:pt x="0" y="3511296"/>
                  </a:lnTo>
                  <a:lnTo>
                    <a:pt x="2674" y="3524543"/>
                  </a:lnTo>
                  <a:lnTo>
                    <a:pt x="9969" y="3535362"/>
                  </a:lnTo>
                  <a:lnTo>
                    <a:pt x="20788" y="3542657"/>
                  </a:lnTo>
                  <a:lnTo>
                    <a:pt x="34036" y="3545331"/>
                  </a:lnTo>
                  <a:lnTo>
                    <a:pt x="4162425" y="3545331"/>
                  </a:lnTo>
                  <a:lnTo>
                    <a:pt x="4175672" y="3542657"/>
                  </a:lnTo>
                  <a:lnTo>
                    <a:pt x="4186491" y="3535362"/>
                  </a:lnTo>
                  <a:lnTo>
                    <a:pt x="4193786" y="3524543"/>
                  </a:lnTo>
                  <a:lnTo>
                    <a:pt x="4196461" y="3511296"/>
                  </a:lnTo>
                  <a:lnTo>
                    <a:pt x="4196461" y="34036"/>
                  </a:lnTo>
                  <a:lnTo>
                    <a:pt x="4193786" y="20788"/>
                  </a:lnTo>
                  <a:lnTo>
                    <a:pt x="4186491" y="9969"/>
                  </a:lnTo>
                  <a:lnTo>
                    <a:pt x="4175672" y="2674"/>
                  </a:lnTo>
                  <a:lnTo>
                    <a:pt x="4162425" y="0"/>
                  </a:lnTo>
                  <a:close/>
                </a:path>
              </a:pathLst>
            </a:custGeom>
            <a:solidFill>
              <a:srgbClr val="2C30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216905" y="2923285"/>
              <a:ext cx="4196715" cy="3545840"/>
            </a:xfrm>
            <a:custGeom>
              <a:avLst/>
              <a:gdLst/>
              <a:ahLst/>
              <a:cxnLst/>
              <a:rect l="l" t="t" r="r" b="b"/>
              <a:pathLst>
                <a:path w="4196715" h="3545840">
                  <a:moveTo>
                    <a:pt x="0" y="34036"/>
                  </a:moveTo>
                  <a:lnTo>
                    <a:pt x="2674" y="20788"/>
                  </a:lnTo>
                  <a:lnTo>
                    <a:pt x="9969" y="9969"/>
                  </a:lnTo>
                  <a:lnTo>
                    <a:pt x="20788" y="2674"/>
                  </a:lnTo>
                  <a:lnTo>
                    <a:pt x="34036" y="0"/>
                  </a:lnTo>
                  <a:lnTo>
                    <a:pt x="4162425" y="0"/>
                  </a:lnTo>
                  <a:lnTo>
                    <a:pt x="4175672" y="2674"/>
                  </a:lnTo>
                  <a:lnTo>
                    <a:pt x="4186491" y="9969"/>
                  </a:lnTo>
                  <a:lnTo>
                    <a:pt x="4193786" y="20788"/>
                  </a:lnTo>
                  <a:lnTo>
                    <a:pt x="4196461" y="34036"/>
                  </a:lnTo>
                  <a:lnTo>
                    <a:pt x="4196461" y="3511296"/>
                  </a:lnTo>
                  <a:lnTo>
                    <a:pt x="4193786" y="3524543"/>
                  </a:lnTo>
                  <a:lnTo>
                    <a:pt x="4186491" y="3535362"/>
                  </a:lnTo>
                  <a:lnTo>
                    <a:pt x="4175672" y="3542657"/>
                  </a:lnTo>
                  <a:lnTo>
                    <a:pt x="4162425" y="3545331"/>
                  </a:lnTo>
                  <a:lnTo>
                    <a:pt x="34036" y="3545331"/>
                  </a:lnTo>
                  <a:lnTo>
                    <a:pt x="20788" y="3542657"/>
                  </a:lnTo>
                  <a:lnTo>
                    <a:pt x="9969" y="3535362"/>
                  </a:lnTo>
                  <a:lnTo>
                    <a:pt x="2674" y="3524543"/>
                  </a:lnTo>
                  <a:lnTo>
                    <a:pt x="0" y="3511296"/>
                  </a:lnTo>
                  <a:lnTo>
                    <a:pt x="0" y="34036"/>
                  </a:lnTo>
                  <a:close/>
                </a:path>
              </a:pathLst>
            </a:custGeom>
            <a:ln w="30480">
              <a:solidFill>
                <a:srgbClr val="64696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462142" y="3156330"/>
            <a:ext cx="3644900" cy="23228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0" dirty="0">
                <a:solidFill>
                  <a:srgbClr val="D5D9D6"/>
                </a:solidFill>
                <a:latin typeface="Arial MT"/>
                <a:cs typeface="Arial MT"/>
              </a:rPr>
              <a:t>GUI</a:t>
            </a:r>
            <a:r>
              <a:rPr sz="2200" spc="-45" dirty="0">
                <a:solidFill>
                  <a:srgbClr val="D5D9D6"/>
                </a:solidFill>
                <a:latin typeface="Arial MT"/>
                <a:cs typeface="Arial MT"/>
              </a:rPr>
              <a:t> </a:t>
            </a:r>
            <a:r>
              <a:rPr sz="2200" spc="45" dirty="0">
                <a:solidFill>
                  <a:srgbClr val="D5D9D6"/>
                </a:solidFill>
                <a:latin typeface="Arial MT"/>
                <a:cs typeface="Arial MT"/>
              </a:rPr>
              <a:t>Development</a:t>
            </a:r>
            <a:endParaRPr sz="2200">
              <a:latin typeface="Arial MT"/>
              <a:cs typeface="Arial MT"/>
            </a:endParaRPr>
          </a:p>
          <a:p>
            <a:pPr marL="12700" marR="5080">
              <a:lnSpc>
                <a:spcPct val="138200"/>
              </a:lnSpc>
              <a:spcBef>
                <a:spcPts val="945"/>
              </a:spcBef>
            </a:pPr>
            <a:r>
              <a:rPr sz="1750" dirty="0">
                <a:solidFill>
                  <a:srgbClr val="D5D9D6"/>
                </a:solidFill>
                <a:latin typeface="Tahoma"/>
                <a:cs typeface="Tahoma"/>
              </a:rPr>
              <a:t>Built</a:t>
            </a:r>
            <a:r>
              <a:rPr sz="1750" spc="1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75" dirty="0">
                <a:solidFill>
                  <a:srgbClr val="D5D9D6"/>
                </a:solidFill>
                <a:latin typeface="Tahoma"/>
                <a:cs typeface="Tahoma"/>
              </a:rPr>
              <a:t>complete</a:t>
            </a:r>
            <a:r>
              <a:rPr sz="1750" spc="2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80" dirty="0">
                <a:solidFill>
                  <a:srgbClr val="D5D9D6"/>
                </a:solidFill>
                <a:latin typeface="Tahoma"/>
                <a:cs typeface="Tahoma"/>
              </a:rPr>
              <a:t>desktop</a:t>
            </a:r>
            <a:r>
              <a:rPr sz="1750" spc="2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55" dirty="0">
                <a:solidFill>
                  <a:srgbClr val="D5D9D6"/>
                </a:solidFill>
                <a:latin typeface="Tahoma"/>
                <a:cs typeface="Tahoma"/>
              </a:rPr>
              <a:t>interface </a:t>
            </a:r>
            <a:r>
              <a:rPr sz="1750" spc="65" dirty="0">
                <a:solidFill>
                  <a:srgbClr val="D5D9D6"/>
                </a:solidFill>
                <a:latin typeface="Tahoma"/>
                <a:cs typeface="Tahoma"/>
              </a:rPr>
              <a:t>using</a:t>
            </a:r>
            <a:r>
              <a:rPr sz="1750" spc="-2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80" dirty="0">
                <a:solidFill>
                  <a:srgbClr val="D5D9D6"/>
                </a:solidFill>
                <a:latin typeface="Tahoma"/>
                <a:cs typeface="Tahoma"/>
              </a:rPr>
              <a:t>Swing</a:t>
            </a:r>
            <a:r>
              <a:rPr sz="1750" spc="-3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D5D9D6"/>
                </a:solidFill>
                <a:latin typeface="Tahoma"/>
                <a:cs typeface="Tahoma"/>
              </a:rPr>
              <a:t>components.</a:t>
            </a:r>
            <a:r>
              <a:rPr sz="1750" spc="-2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D5D9D6"/>
                </a:solidFill>
                <a:latin typeface="Tahoma"/>
                <a:cs typeface="Tahoma"/>
              </a:rPr>
              <a:t>Applied </a:t>
            </a:r>
            <a:r>
              <a:rPr sz="1750" spc="50" dirty="0">
                <a:solidFill>
                  <a:srgbClr val="D5D9D6"/>
                </a:solidFill>
                <a:latin typeface="Tahoma"/>
                <a:cs typeface="Tahoma"/>
              </a:rPr>
              <a:t>layout</a:t>
            </a:r>
            <a:r>
              <a:rPr sz="1750" spc="-4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75" dirty="0">
                <a:solidFill>
                  <a:srgbClr val="D5D9D6"/>
                </a:solidFill>
                <a:latin typeface="Tahoma"/>
                <a:cs typeface="Tahoma"/>
              </a:rPr>
              <a:t>managers</a:t>
            </a:r>
            <a:r>
              <a:rPr sz="1750" spc="-2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D5D9D6"/>
                </a:solidFill>
                <a:latin typeface="Tahoma"/>
                <a:cs typeface="Tahoma"/>
              </a:rPr>
              <a:t>and</a:t>
            </a:r>
            <a:r>
              <a:rPr sz="1750" spc="-4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75" dirty="0">
                <a:solidFill>
                  <a:srgbClr val="D5D9D6"/>
                </a:solidFill>
                <a:latin typeface="Tahoma"/>
                <a:cs typeface="Tahoma"/>
              </a:rPr>
              <a:t>event-</a:t>
            </a:r>
            <a:r>
              <a:rPr sz="1750" spc="50" dirty="0">
                <a:solidFill>
                  <a:srgbClr val="D5D9D6"/>
                </a:solidFill>
                <a:latin typeface="Tahoma"/>
                <a:cs typeface="Tahoma"/>
              </a:rPr>
              <a:t>driven </a:t>
            </a:r>
            <a:r>
              <a:rPr sz="1750" spc="65" dirty="0">
                <a:solidFill>
                  <a:srgbClr val="D5D9D6"/>
                </a:solidFill>
                <a:latin typeface="Tahoma"/>
                <a:cs typeface="Tahoma"/>
              </a:rPr>
              <a:t>programming</a:t>
            </a:r>
            <a:r>
              <a:rPr sz="1750" spc="1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D5D9D6"/>
                </a:solidFill>
                <a:latin typeface="Tahoma"/>
                <a:cs typeface="Tahoma"/>
              </a:rPr>
              <a:t>to</a:t>
            </a:r>
            <a:r>
              <a:rPr sz="1750" spc="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dirty="0">
                <a:solidFill>
                  <a:srgbClr val="D5D9D6"/>
                </a:solidFill>
                <a:latin typeface="Tahoma"/>
                <a:cs typeface="Tahoma"/>
              </a:rPr>
              <a:t>link</a:t>
            </a:r>
            <a:r>
              <a:rPr sz="1750" spc="1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75" dirty="0">
                <a:solidFill>
                  <a:srgbClr val="D5D9D6"/>
                </a:solidFill>
                <a:latin typeface="Tahoma"/>
                <a:cs typeface="Tahoma"/>
              </a:rPr>
              <a:t>user</a:t>
            </a:r>
            <a:r>
              <a:rPr sz="1750" spc="1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60" dirty="0">
                <a:solidFill>
                  <a:srgbClr val="D5D9D6"/>
                </a:solidFill>
                <a:latin typeface="Tahoma"/>
                <a:cs typeface="Tahoma"/>
              </a:rPr>
              <a:t>actions </a:t>
            </a:r>
            <a:r>
              <a:rPr sz="1750" dirty="0">
                <a:solidFill>
                  <a:srgbClr val="D5D9D6"/>
                </a:solidFill>
                <a:latin typeface="Tahoma"/>
                <a:cs typeface="Tahoma"/>
              </a:rPr>
              <a:t>to</a:t>
            </a:r>
            <a:r>
              <a:rPr sz="1750" spc="-2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D5D9D6"/>
                </a:solidFill>
                <a:latin typeface="Tahoma"/>
                <a:cs typeface="Tahoma"/>
              </a:rPr>
              <a:t>logical</a:t>
            </a:r>
            <a:r>
              <a:rPr sz="1750" spc="-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45" dirty="0">
                <a:solidFill>
                  <a:srgbClr val="D5D9D6"/>
                </a:solidFill>
                <a:latin typeface="Tahoma"/>
                <a:cs typeface="Tahoma"/>
              </a:rPr>
              <a:t>operations.</a:t>
            </a:r>
            <a:endParaRPr sz="175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9624948" y="2908045"/>
            <a:ext cx="4227195" cy="3576320"/>
            <a:chOff x="9624948" y="2908045"/>
            <a:chExt cx="4227195" cy="3576320"/>
          </a:xfrm>
        </p:grpSpPr>
        <p:sp>
          <p:nvSpPr>
            <p:cNvPr id="15" name="object 15"/>
            <p:cNvSpPr/>
            <p:nvPr/>
          </p:nvSpPr>
          <p:spPr>
            <a:xfrm>
              <a:off x="9640188" y="2923285"/>
              <a:ext cx="4196715" cy="3545840"/>
            </a:xfrm>
            <a:custGeom>
              <a:avLst/>
              <a:gdLst/>
              <a:ahLst/>
              <a:cxnLst/>
              <a:rect l="l" t="t" r="r" b="b"/>
              <a:pathLst>
                <a:path w="4196715" h="3545840">
                  <a:moveTo>
                    <a:pt x="4162297" y="0"/>
                  </a:moveTo>
                  <a:lnTo>
                    <a:pt x="34035" y="0"/>
                  </a:lnTo>
                  <a:lnTo>
                    <a:pt x="20788" y="2674"/>
                  </a:lnTo>
                  <a:lnTo>
                    <a:pt x="9969" y="9969"/>
                  </a:lnTo>
                  <a:lnTo>
                    <a:pt x="2674" y="20788"/>
                  </a:lnTo>
                  <a:lnTo>
                    <a:pt x="0" y="34036"/>
                  </a:lnTo>
                  <a:lnTo>
                    <a:pt x="0" y="3511296"/>
                  </a:lnTo>
                  <a:lnTo>
                    <a:pt x="2674" y="3524543"/>
                  </a:lnTo>
                  <a:lnTo>
                    <a:pt x="9969" y="3535362"/>
                  </a:lnTo>
                  <a:lnTo>
                    <a:pt x="20788" y="3542657"/>
                  </a:lnTo>
                  <a:lnTo>
                    <a:pt x="34035" y="3545331"/>
                  </a:lnTo>
                  <a:lnTo>
                    <a:pt x="4162297" y="3545331"/>
                  </a:lnTo>
                  <a:lnTo>
                    <a:pt x="4175545" y="3542657"/>
                  </a:lnTo>
                  <a:lnTo>
                    <a:pt x="4186364" y="3535362"/>
                  </a:lnTo>
                  <a:lnTo>
                    <a:pt x="4193659" y="3524543"/>
                  </a:lnTo>
                  <a:lnTo>
                    <a:pt x="4196333" y="3511296"/>
                  </a:lnTo>
                  <a:lnTo>
                    <a:pt x="4196333" y="34036"/>
                  </a:lnTo>
                  <a:lnTo>
                    <a:pt x="4193659" y="20788"/>
                  </a:lnTo>
                  <a:lnTo>
                    <a:pt x="4186364" y="9969"/>
                  </a:lnTo>
                  <a:lnTo>
                    <a:pt x="4175545" y="2674"/>
                  </a:lnTo>
                  <a:lnTo>
                    <a:pt x="4162297" y="0"/>
                  </a:lnTo>
                  <a:close/>
                </a:path>
              </a:pathLst>
            </a:custGeom>
            <a:solidFill>
              <a:srgbClr val="2C30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640188" y="2923285"/>
              <a:ext cx="4196715" cy="3545840"/>
            </a:xfrm>
            <a:custGeom>
              <a:avLst/>
              <a:gdLst/>
              <a:ahLst/>
              <a:cxnLst/>
              <a:rect l="l" t="t" r="r" b="b"/>
              <a:pathLst>
                <a:path w="4196715" h="3545840">
                  <a:moveTo>
                    <a:pt x="0" y="34036"/>
                  </a:moveTo>
                  <a:lnTo>
                    <a:pt x="2674" y="20788"/>
                  </a:lnTo>
                  <a:lnTo>
                    <a:pt x="9969" y="9969"/>
                  </a:lnTo>
                  <a:lnTo>
                    <a:pt x="20788" y="2674"/>
                  </a:lnTo>
                  <a:lnTo>
                    <a:pt x="34035" y="0"/>
                  </a:lnTo>
                  <a:lnTo>
                    <a:pt x="4162297" y="0"/>
                  </a:lnTo>
                  <a:lnTo>
                    <a:pt x="4175545" y="2674"/>
                  </a:lnTo>
                  <a:lnTo>
                    <a:pt x="4186364" y="9969"/>
                  </a:lnTo>
                  <a:lnTo>
                    <a:pt x="4193659" y="20788"/>
                  </a:lnTo>
                  <a:lnTo>
                    <a:pt x="4196333" y="34036"/>
                  </a:lnTo>
                  <a:lnTo>
                    <a:pt x="4196333" y="3511296"/>
                  </a:lnTo>
                  <a:lnTo>
                    <a:pt x="4193659" y="3524543"/>
                  </a:lnTo>
                  <a:lnTo>
                    <a:pt x="4186364" y="3535362"/>
                  </a:lnTo>
                  <a:lnTo>
                    <a:pt x="4175545" y="3542657"/>
                  </a:lnTo>
                  <a:lnTo>
                    <a:pt x="4162297" y="3545331"/>
                  </a:lnTo>
                  <a:lnTo>
                    <a:pt x="34035" y="3545331"/>
                  </a:lnTo>
                  <a:lnTo>
                    <a:pt x="20788" y="3542657"/>
                  </a:lnTo>
                  <a:lnTo>
                    <a:pt x="9969" y="3535362"/>
                  </a:lnTo>
                  <a:lnTo>
                    <a:pt x="2674" y="3524543"/>
                  </a:lnTo>
                  <a:lnTo>
                    <a:pt x="0" y="3511296"/>
                  </a:lnTo>
                  <a:lnTo>
                    <a:pt x="0" y="34036"/>
                  </a:lnTo>
                  <a:close/>
                </a:path>
              </a:pathLst>
            </a:custGeom>
            <a:ln w="30480">
              <a:solidFill>
                <a:srgbClr val="64696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9885680" y="3156330"/>
            <a:ext cx="3638550" cy="23228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70" dirty="0">
                <a:solidFill>
                  <a:srgbClr val="D5D9D6"/>
                </a:solidFill>
                <a:latin typeface="Arial MT"/>
                <a:cs typeface="Arial MT"/>
              </a:rPr>
              <a:t>OOP</a:t>
            </a:r>
            <a:r>
              <a:rPr sz="2200" spc="-65" dirty="0">
                <a:solidFill>
                  <a:srgbClr val="D5D9D6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D5D9D6"/>
                </a:solidFill>
                <a:latin typeface="Arial MT"/>
                <a:cs typeface="Arial MT"/>
              </a:rPr>
              <a:t>Principles</a:t>
            </a:r>
            <a:endParaRPr sz="2200">
              <a:latin typeface="Arial MT"/>
              <a:cs typeface="Arial MT"/>
            </a:endParaRPr>
          </a:p>
          <a:p>
            <a:pPr marL="12700" marR="5080">
              <a:lnSpc>
                <a:spcPct val="138200"/>
              </a:lnSpc>
              <a:spcBef>
                <a:spcPts val="945"/>
              </a:spcBef>
            </a:pPr>
            <a:r>
              <a:rPr sz="1750" spc="85" dirty="0">
                <a:solidFill>
                  <a:srgbClr val="D5D9D6"/>
                </a:solidFill>
                <a:latin typeface="Tahoma"/>
                <a:cs typeface="Tahoma"/>
              </a:rPr>
              <a:t>Practiced</a:t>
            </a:r>
            <a:r>
              <a:rPr sz="1750" spc="-4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70" dirty="0">
                <a:solidFill>
                  <a:srgbClr val="D5D9D6"/>
                </a:solidFill>
                <a:latin typeface="Tahoma"/>
                <a:cs typeface="Tahoma"/>
              </a:rPr>
              <a:t>encapsulation</a:t>
            </a:r>
            <a:r>
              <a:rPr sz="1750" spc="-20" dirty="0">
                <a:solidFill>
                  <a:srgbClr val="D5D9D6"/>
                </a:solidFill>
                <a:latin typeface="Tahoma"/>
                <a:cs typeface="Tahoma"/>
              </a:rPr>
              <a:t> with </a:t>
            </a:r>
            <a:r>
              <a:rPr sz="1750" spc="50" dirty="0">
                <a:solidFill>
                  <a:srgbClr val="D5D9D6"/>
                </a:solidFill>
                <a:latin typeface="Tahoma"/>
                <a:cs typeface="Tahoma"/>
              </a:rPr>
              <a:t>private</a:t>
            </a:r>
            <a:r>
              <a:rPr sz="1750" spc="-2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55" dirty="0">
                <a:solidFill>
                  <a:srgbClr val="D5D9D6"/>
                </a:solidFill>
                <a:latin typeface="Tahoma"/>
                <a:cs typeface="Tahoma"/>
              </a:rPr>
              <a:t>fields,</a:t>
            </a:r>
            <a:r>
              <a:rPr sz="1750" spc="-3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D5D9D6"/>
                </a:solidFill>
                <a:latin typeface="Tahoma"/>
                <a:cs typeface="Tahoma"/>
              </a:rPr>
              <a:t>applied</a:t>
            </a:r>
            <a:r>
              <a:rPr sz="1750" spc="-1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65" dirty="0">
                <a:solidFill>
                  <a:srgbClr val="D5D9D6"/>
                </a:solidFill>
                <a:latin typeface="Tahoma"/>
                <a:cs typeface="Tahoma"/>
              </a:rPr>
              <a:t>composition </a:t>
            </a:r>
            <a:r>
              <a:rPr sz="1750" spc="50" dirty="0">
                <a:solidFill>
                  <a:srgbClr val="D5D9D6"/>
                </a:solidFill>
                <a:latin typeface="Tahoma"/>
                <a:cs typeface="Tahoma"/>
              </a:rPr>
              <a:t>through</a:t>
            </a:r>
            <a:r>
              <a:rPr sz="1750" spc="-3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60" dirty="0">
                <a:solidFill>
                  <a:srgbClr val="D5D9D6"/>
                </a:solidFill>
                <a:latin typeface="Tahoma"/>
                <a:cs typeface="Tahoma"/>
              </a:rPr>
              <a:t>object</a:t>
            </a:r>
            <a:r>
              <a:rPr sz="1750" spc="-2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50" dirty="0">
                <a:solidFill>
                  <a:srgbClr val="D5D9D6"/>
                </a:solidFill>
                <a:latin typeface="Tahoma"/>
                <a:cs typeface="Tahoma"/>
              </a:rPr>
              <a:t>collaboration,</a:t>
            </a:r>
            <a:r>
              <a:rPr sz="1750" spc="-1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45" dirty="0">
                <a:solidFill>
                  <a:srgbClr val="D5D9D6"/>
                </a:solidFill>
                <a:latin typeface="Tahoma"/>
                <a:cs typeface="Tahoma"/>
              </a:rPr>
              <a:t>and </a:t>
            </a:r>
            <a:r>
              <a:rPr sz="1750" spc="60" dirty="0">
                <a:solidFill>
                  <a:srgbClr val="D5D9D6"/>
                </a:solidFill>
                <a:latin typeface="Tahoma"/>
                <a:cs typeface="Tahoma"/>
              </a:rPr>
              <a:t>strengthened</a:t>
            </a:r>
            <a:r>
              <a:rPr sz="1750" spc="-20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110" dirty="0">
                <a:solidFill>
                  <a:srgbClr val="D5D9D6"/>
                </a:solidFill>
                <a:latin typeface="Tahoma"/>
                <a:cs typeface="Tahoma"/>
              </a:rPr>
              <a:t>class</a:t>
            </a:r>
            <a:r>
              <a:rPr sz="1750" spc="-4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80" dirty="0">
                <a:solidFill>
                  <a:srgbClr val="D5D9D6"/>
                </a:solidFill>
                <a:latin typeface="Tahoma"/>
                <a:cs typeface="Tahoma"/>
              </a:rPr>
              <a:t>design</a:t>
            </a:r>
            <a:r>
              <a:rPr sz="1750" spc="-2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45" dirty="0">
                <a:solidFill>
                  <a:srgbClr val="D5D9D6"/>
                </a:solidFill>
                <a:latin typeface="Tahoma"/>
                <a:cs typeface="Tahoma"/>
              </a:rPr>
              <a:t>and </a:t>
            </a:r>
            <a:r>
              <a:rPr sz="1750" spc="55" dirty="0">
                <a:solidFill>
                  <a:srgbClr val="D5D9D6"/>
                </a:solidFill>
                <a:latin typeface="Tahoma"/>
                <a:cs typeface="Tahoma"/>
              </a:rPr>
              <a:t>modular</a:t>
            </a:r>
            <a:r>
              <a:rPr sz="1750" spc="-2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55" dirty="0">
                <a:solidFill>
                  <a:srgbClr val="D5D9D6"/>
                </a:solidFill>
                <a:latin typeface="Tahoma"/>
                <a:cs typeface="Tahoma"/>
              </a:rPr>
              <a:t>architecture</a:t>
            </a:r>
            <a:r>
              <a:rPr sz="1750" spc="5" dirty="0">
                <a:solidFill>
                  <a:srgbClr val="D5D9D6"/>
                </a:solidFill>
                <a:latin typeface="Tahoma"/>
                <a:cs typeface="Tahoma"/>
              </a:rPr>
              <a:t> </a:t>
            </a:r>
            <a:r>
              <a:rPr sz="1750" spc="40" dirty="0">
                <a:solidFill>
                  <a:srgbClr val="D5D9D6"/>
                </a:solidFill>
                <a:latin typeface="Tahoma"/>
                <a:cs typeface="Tahoma"/>
              </a:rPr>
              <a:t>skills.</a:t>
            </a:r>
            <a:endParaRPr sz="1750">
              <a:latin typeface="Tahoma"/>
              <a:cs typeface="Tahoma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3507784-9084-F211-5008-CA3B4ECD6E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600"/>
            <a:ext cx="8382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-1"/>
            <a:ext cx="5486400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75988" y="3410584"/>
            <a:ext cx="8168640" cy="7042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pc="75" dirty="0"/>
              <a:t>Thank You</a:t>
            </a:r>
            <a:endParaRPr spc="75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33DB5E-AAE8-680F-21C0-06725C33C2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600"/>
            <a:ext cx="838200" cy="838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472</TotalTime>
  <Words>450</Words>
  <Application>Microsoft Office PowerPoint</Application>
  <PresentationFormat>Custom</PresentationFormat>
  <Paragraphs>84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 MT</vt:lpstr>
      <vt:lpstr>Calibri</vt:lpstr>
      <vt:lpstr>Tahoma</vt:lpstr>
      <vt:lpstr>Office Theme</vt:lpstr>
      <vt:lpstr>Contact Search App</vt:lpstr>
      <vt:lpstr>Project Overview</vt:lpstr>
      <vt:lpstr>PowerPoint Presentation</vt:lpstr>
      <vt:lpstr>Core Technologies</vt:lpstr>
      <vt:lpstr>Five Core Features</vt:lpstr>
      <vt:lpstr>Data Structure Implementation</vt:lpstr>
      <vt:lpstr>PowerPoint Presentation</vt:lpstr>
      <vt:lpstr>Application Workflow</vt:lpstr>
      <vt:lpstr>Sample Data &amp; Results</vt:lpstr>
      <vt:lpstr>Learning Outcomes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Shivang Chaurasia</cp:lastModifiedBy>
  <cp:revision>2</cp:revision>
  <dcterms:created xsi:type="dcterms:W3CDTF">2025-10-25T09:32:14Z</dcterms:created>
  <dcterms:modified xsi:type="dcterms:W3CDTF">2025-11-01T22:31:16Z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2025-10-25T00:00:00Z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2025-10-25T00:00:00Z</vt:filetime>
  </property>
  <property fmtid="{D5CDD505-2E9C-101B-9397-08002B2CF9AE}" pid="5" name="Producer">
    <vt:lpwstr>Microsoft® PowerPoint® 2021</vt:lpwstr>
  </property>
</Properties>
</file>